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0" r:id="rId5"/>
    <p:sldId id="258" r:id="rId6"/>
    <p:sldId id="266" r:id="rId7"/>
    <p:sldId id="269" r:id="rId8"/>
    <p:sldId id="263" r:id="rId9"/>
    <p:sldId id="275" r:id="rId10"/>
    <p:sldId id="276" r:id="rId11"/>
    <p:sldId id="277" r:id="rId12"/>
    <p:sldId id="270" r:id="rId13"/>
    <p:sldId id="261" r:id="rId14"/>
    <p:sldId id="278" r:id="rId15"/>
    <p:sldId id="279" r:id="rId16"/>
    <p:sldId id="280" r:id="rId17"/>
    <p:sldId id="281" r:id="rId18"/>
    <p:sldId id="271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7F"/>
    <a:srgbClr val="7ED6F6"/>
    <a:srgbClr val="B4E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 snapToGrid="0">
      <p:cViewPr varScale="1">
        <p:scale>
          <a:sx n="60" d="100"/>
          <a:sy n="60" d="100"/>
        </p:scale>
        <p:origin x="38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DE95-0D70-6A74-0D92-D14ADCF66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6BD47-C246-D353-79AA-53BE13A6B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2C06A-A546-7315-5465-425053F0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EE3BD-ED2C-1BF9-2F7A-C62A4416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5C960-05EB-1CCA-7F94-288CAB3A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577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4D1-307C-0363-D53C-36F188BB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E883-C6A6-2D0F-DB6C-03794BCF2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6C789-D2C2-D94A-4F0F-CE729CAD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308D2-6AE5-FB10-31A4-CC7B7E90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8718F-F414-0A4D-3755-F10CD586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512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A8D4-C75D-2DB2-068B-DEA317FDA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36D31-C2C1-2B8F-DE7A-5DD543C2D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D9CF3-6999-2B59-0320-F5A6E690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1618D-CDDA-BF3A-A33F-DA608C31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33A05-569D-3089-9617-AEF5A8A7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3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F89D-517E-538E-2487-488EA4DF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E703-C09A-BAFF-D2D5-333BFCBFF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70A76-EEA4-0EEB-5770-D62D71B05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F024C-1A58-35CC-6D62-BC65111AC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8DB25-78E2-F4D1-7BCD-F49A3E19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D6B06-95A0-88A4-5FF8-72FB1082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20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BAEA-CD99-C320-3C0D-44737D89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A7AFF-2D35-C057-E725-F56888C8E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EA5AC-CB31-4D25-FF2D-E8E14C1CF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B9003-1E59-28F3-C0AA-CC97292C1E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28113-3424-4004-116B-6E00F99E0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7F914-20D5-F7C6-CA21-0569BD76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34374-B8FC-1763-24E9-40C8BBBF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78F60-C9FE-AE83-7CEB-3993D7BA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84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5E4A-BA19-B5EC-1020-D0DF83F7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02F10-F2DB-DA61-FDB8-EC6825F6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4258C-D343-A841-26BB-11B32339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EA264-76A4-137D-153C-9BFDFE08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0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EA077C-BEEC-3B17-6AC0-1495BC1E2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E3163-B5DE-4F6C-6DD5-675E3617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DE00F-59AC-3FC7-5DE3-403201A0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58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2710-47C8-9102-D7F0-67B0416B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749C7-E746-8D68-9E45-A54461380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A3D71-9E6F-E01D-7025-7BFFE0903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F52BF-B5F8-B69E-7C45-93C572EB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C2857-CAA3-6EEC-6D61-69BB8399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3548-86FA-E8F6-ED72-9430306C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50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4220-64E3-6758-74C5-890014C5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8086D-2BF2-49BB-78F8-D8EEE1F79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9357C-D39B-AA75-CE2B-1FE98FA12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43022-F770-9977-0C80-F085F520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82162-A69D-CDD1-0DDC-3071C7611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3AEA6-8C66-9BA7-A154-7CE00324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23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7A0A4-01E7-24F4-2EFF-C5875F47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EB0AA-000C-18B5-93A6-A9F22BFA7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D428-397D-4020-E929-AC6099B9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C4359-3853-B7B8-2416-CED95C27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CA86D-26D6-0C7B-7BCE-97BBC007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96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0E0BF5-0152-68C9-77CC-933755793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0D7E1-B7C5-931F-A25B-1532B6089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23F5D-F7B6-88C9-0F06-5EE08728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A78AA-9A63-D5A5-F46B-921ACB5EB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E0FC4-8F64-AFAA-38C4-005E03A1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91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4DB6B-E0A8-C606-1FF9-88A119BB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D0A43-AB95-2833-F09E-47B203F92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21565-14C5-D40E-DC26-8C7ED490E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F2CAB-9550-4AE4-86CE-BDF61A160E9F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E2ACF-6E32-8FA0-C98E-3E7338B26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D6386-C58A-14F9-8300-A49BA376D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F516F-6E3B-426B-9BED-52E2A18B3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7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F514-98AF-55D9-1465-6B8E5223C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Project 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4118B-B85E-E672-60AE-EE7C9905E7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26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CAC35E4-7C4C-E407-266C-027D37ED5708}"/>
              </a:ext>
            </a:extLst>
          </p:cNvPr>
          <p:cNvSpPr txBox="1"/>
          <p:nvPr/>
        </p:nvSpPr>
        <p:spPr>
          <a:xfrm>
            <a:off x="3032512" y="5539740"/>
            <a:ext cx="76952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1: Stromal and Myeloid populations linked to elevated CES1 expression. </a:t>
            </a:r>
            <a:r>
              <a:rPr lang="en-GB" sz="1400" i="1" dirty="0"/>
              <a:t>(A) UMAP plot of 7 cell subtypes with labels from Pelka et al.. (B) Clustering distribution of cells from N and T samples. (C) Clustering distribution of cells expressing CES1. (D) CES1 expression analysis of labelled cell clusters. </a:t>
            </a:r>
            <a:endParaRPr lang="en-GB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C0375-FF7B-A4CD-FF28-760741B86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128" y="865292"/>
            <a:ext cx="6352540" cy="42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7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50A882-C8D0-BAF8-0FCB-33291218C6AA}"/>
              </a:ext>
            </a:extLst>
          </p:cNvPr>
          <p:cNvSpPr txBox="1"/>
          <p:nvPr/>
        </p:nvSpPr>
        <p:spPr>
          <a:xfrm>
            <a:off x="2271250" y="4715797"/>
            <a:ext cx="76952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2: Identification of Myeloid subsets in CRC. </a:t>
            </a:r>
            <a:r>
              <a:rPr lang="en-GB" sz="1400" i="1" dirty="0"/>
              <a:t>UMAP plot labelled with distinct myeloid clusters from Pelka et al. (A) , using cluster numbers (B), and using annotations (D) obtained using feature identification and a dot plot of the scaled average expression of key myeloid marker genes (C) following Xie et al. workflow.</a:t>
            </a:r>
            <a:endParaRPr lang="en-GB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923A8-E599-0A3C-4F62-09DB2D3C2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345" y="539996"/>
            <a:ext cx="6680727" cy="417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8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E8ECB1-B13D-F48A-EA94-CB9579BD03B6}"/>
              </a:ext>
            </a:extLst>
          </p:cNvPr>
          <p:cNvSpPr txBox="1"/>
          <p:nvPr/>
        </p:nvSpPr>
        <p:spPr>
          <a:xfrm>
            <a:off x="1920444" y="5374620"/>
            <a:ext cx="8615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3: SPP1+ Macrophages exhibit significantly higher CES1 expression comparative to C1QC+ Macrophages. </a:t>
            </a:r>
            <a:r>
              <a:rPr lang="en-GB" sz="1400" i="1" dirty="0"/>
              <a:t>(A) CES1 expression analysis between macrophage groups. (B) Percentage distribution of cells between N and T tissue which express CES1 in macrophage subgroups. (C) Box plots of the comparative average CES1 expression  between N and T tissue for macrophage subgroups. (D,E) Comparative CES1 average expression and percent expressed between T tissue SPP1 and C1QC macrophage groups. ns-Non Significant,*P,0.05,****P,0.0001, Paired T-test.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AA992-5F6D-79EC-A6ED-AF775F941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896" y="234807"/>
            <a:ext cx="7709719" cy="513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4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65CD77-BE83-E29B-7284-A043A413A9BF}"/>
              </a:ext>
            </a:extLst>
          </p:cNvPr>
          <p:cNvSpPr txBox="1"/>
          <p:nvPr/>
        </p:nvSpPr>
        <p:spPr>
          <a:xfrm>
            <a:off x="2435812" y="4980039"/>
            <a:ext cx="8615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4: SPP1+/C1QC+ Macrophage outgoing Ligand-Receptor Interactions. </a:t>
            </a:r>
          </a:p>
          <a:p>
            <a:r>
              <a:rPr lang="en-GB" sz="1400" i="1" dirty="0" err="1"/>
              <a:t>Cellchat</a:t>
            </a:r>
            <a:r>
              <a:rPr lang="en-GB" sz="1400" i="1" dirty="0"/>
              <a:t> circle plot depicting compare outgoing interaction strength between SPP1+/C1QC+ macrophages and general cell types (B) and T cell subtypes (B). (C) Pathway level comparison of Ligand-Receptor interaction communication probability (CP) between SPP1+/C1QC+ macrophages and CD4+/CD8+ T cell subtypes. Interaction labelled “SPP1” when (SPP1-CP)µ &gt;  2(C1QC-CP)µ and vice versa. All combinations in-between classified as “both”. This is repeated for CD4/CD8 classifications.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68F06E-CE56-F943-2DFD-0A26C9DB2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790" y="270134"/>
            <a:ext cx="3913388" cy="461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91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8492B1-F62D-8471-EAF3-44E6474E9344}"/>
              </a:ext>
            </a:extLst>
          </p:cNvPr>
          <p:cNvSpPr txBox="1"/>
          <p:nvPr/>
        </p:nvSpPr>
        <p:spPr>
          <a:xfrm>
            <a:off x="2412852" y="4020098"/>
            <a:ext cx="68815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5: SPP1+ Macrophages could enhance inflammatory and immunosuppressive </a:t>
            </a:r>
            <a:r>
              <a:rPr lang="en-GB" sz="1400" b="1" dirty="0" err="1"/>
              <a:t>singalling</a:t>
            </a:r>
            <a:r>
              <a:rPr lang="en-GB" sz="1400" b="1" dirty="0"/>
              <a:t> pathways in T-Cells through RETN, APP and CCL20.</a:t>
            </a:r>
            <a:endParaRPr lang="en-GB" sz="1400" b="1" i="1" dirty="0"/>
          </a:p>
          <a:p>
            <a:r>
              <a:rPr lang="en-GB" sz="1400" i="1" dirty="0"/>
              <a:t>(A) Heatmap of gene regulatory potential (RP) of prioritised ligands between SPP1+/C1QC+ macrophages and CD4+/CD8+ T cells in N vs T samples. Interaction labelled “SPP1” when (SPP1-CP)µ &gt;  2(C1QC-CP)µ and vice versa. All combinations in-between classified as “both”. (B) </a:t>
            </a:r>
            <a:r>
              <a:rPr lang="en-GB" sz="1400" i="1" dirty="0" err="1"/>
              <a:t>Complexupset</a:t>
            </a:r>
            <a:r>
              <a:rPr lang="en-GB" sz="1400" i="1" dirty="0"/>
              <a:t> plot showing overlap of genes within each condition. RP Heatmap filtered to include genes uniquely upregulated via specific SPP1-TCD8 (C) or  SPP1-TCD4 (D) labelled interactions (no unique gene upregulations present for C1QC-TCD8/TCD4 labelled interactions), then further filtered by max(RP) for easier visualisation.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09C11F-FA74-9E0E-5CA0-57B8DA3E1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660" y="406528"/>
            <a:ext cx="3474790" cy="361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3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92365C-DAA1-5899-7D3F-17EF19C1F9A8}"/>
              </a:ext>
            </a:extLst>
          </p:cNvPr>
          <p:cNvSpPr txBox="1"/>
          <p:nvPr/>
        </p:nvSpPr>
        <p:spPr>
          <a:xfrm>
            <a:off x="2952039" y="4960165"/>
            <a:ext cx="68815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6: SPP1+/C1QC+ Macrophage to high-CES1 Fibroblast L-R analysis. </a:t>
            </a:r>
          </a:p>
          <a:p>
            <a:r>
              <a:rPr lang="en-GB" sz="1400" i="1" dirty="0"/>
              <a:t>(A) UMAP plot of 5 distinct stromal clusters with labels from Pelka et al.(B,C) Comparative CES1 average expression and percent expressed between Stromal subgroups. ns-Non Significant, *P,0.05,****P,0.0001, Paired T-test.(D) Pathway level comparison of Ligand-Receptor interaction communication probability (CP) between SPP1+/C1QC+ macrophages and Fibroblast subtypes. Interaction labelled “SPP1” when (SPP1-CP)µ &gt;  2(C1QC-CP)µ and vice versa. All combinations in-between classified as “both”.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9CDCB9-E786-B170-4797-AABE25AC2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82880"/>
            <a:ext cx="5097986" cy="462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4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5B1255-C390-6C25-1754-4863462EBD00}"/>
              </a:ext>
            </a:extLst>
          </p:cNvPr>
          <p:cNvSpPr txBox="1"/>
          <p:nvPr/>
        </p:nvSpPr>
        <p:spPr>
          <a:xfrm>
            <a:off x="2232660" y="4325620"/>
            <a:ext cx="68815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7: SPP1-Macrophages upregulate Tumour-enhancing TGFB1 and VEGFA signalling.</a:t>
            </a:r>
            <a:r>
              <a:rPr lang="en-GB" sz="1400" i="1" dirty="0"/>
              <a:t> (A) Heatmap of gene regulatory potential (RP) of prioritised ligands between SPP1+/C1QC+ macrophages and Fibroblasts in N vs T samples. Interaction labelled “SPP1” when (SPP1-CP)µ &gt;  2(C1QC-CP)µ and vice versa. All combinations in-between classified as “both”. (B) </a:t>
            </a:r>
            <a:r>
              <a:rPr lang="en-GB" sz="1400" i="1" dirty="0" err="1"/>
              <a:t>Complexupset</a:t>
            </a:r>
            <a:r>
              <a:rPr lang="en-GB" sz="1400" i="1" dirty="0"/>
              <a:t> plot showing overlap of genes within each condition. RP Heatmap filtered to include genes uniquely upregulated via specific SPP1-Fibro (C), or C1QC-Fibro (D) labelled interactions then further filtered by max(RP) for easier visualisation. (E) Comparative GSEA GO Enrichment Analysis of upregulated genes from each labelled L-R interaction group.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21C8FD-6FAF-5D75-AF48-A8DBF31D1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236" y="275317"/>
            <a:ext cx="4614349" cy="366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65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47D0-81AE-2C22-239A-C9B683D1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3BCDBB76-553B-F990-2047-44AA80ABDA91}"/>
              </a:ext>
            </a:extLst>
          </p:cNvPr>
          <p:cNvSpPr/>
          <p:nvPr/>
        </p:nvSpPr>
        <p:spPr>
          <a:xfrm>
            <a:off x="6546800" y="-61508"/>
            <a:ext cx="5714026" cy="70187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7BCC4A-328F-1BDC-E1F6-3F2C1FAAC8B7}"/>
              </a:ext>
            </a:extLst>
          </p:cNvPr>
          <p:cNvSpPr/>
          <p:nvPr/>
        </p:nvSpPr>
        <p:spPr>
          <a:xfrm>
            <a:off x="4377624" y="-26215"/>
            <a:ext cx="2248946" cy="71054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48306C-2291-D9E1-CC8F-2A83A8F5D97C}"/>
              </a:ext>
            </a:extLst>
          </p:cNvPr>
          <p:cNvSpPr/>
          <p:nvPr/>
        </p:nvSpPr>
        <p:spPr>
          <a:xfrm>
            <a:off x="0" y="-18148"/>
            <a:ext cx="4407248" cy="70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D79B96-99AF-E285-9057-53A26F161081}"/>
              </a:ext>
            </a:extLst>
          </p:cNvPr>
          <p:cNvSpPr/>
          <p:nvPr/>
        </p:nvSpPr>
        <p:spPr>
          <a:xfrm>
            <a:off x="53342" y="2994660"/>
            <a:ext cx="1569720" cy="1066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High CES1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5F2794-CDCD-4C48-9CF6-A47513D3B064}"/>
              </a:ext>
            </a:extLst>
          </p:cNvPr>
          <p:cNvSpPr/>
          <p:nvPr/>
        </p:nvSpPr>
        <p:spPr>
          <a:xfrm>
            <a:off x="2049781" y="365760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Decreased NLRP3 inflammasome priming, IL-1B, and HIF1a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C8A03E-C32E-18DB-935E-D269658ED162}"/>
              </a:ext>
            </a:extLst>
          </p:cNvPr>
          <p:cNvSpPr/>
          <p:nvPr/>
        </p:nvSpPr>
        <p:spPr>
          <a:xfrm>
            <a:off x="2049781" y="2788920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Sustained </a:t>
            </a:r>
            <a:r>
              <a:rPr lang="en-GB" dirty="0" err="1"/>
              <a:t>PPARy</a:t>
            </a:r>
            <a:r>
              <a:rPr lang="en-GB" dirty="0"/>
              <a:t> signalling and lipid handling and anti-inflammatory polarization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159FFA-6E42-509A-0886-0156CAEB9F11}"/>
              </a:ext>
            </a:extLst>
          </p:cNvPr>
          <p:cNvSpPr/>
          <p:nvPr/>
        </p:nvSpPr>
        <p:spPr>
          <a:xfrm>
            <a:off x="2049781" y="5059681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TAG hydrolysis, increased free fatty acids, increased FAO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B5BC7-DE46-489F-CBA2-0250D08A5B6B}"/>
              </a:ext>
            </a:extLst>
          </p:cNvPr>
          <p:cNvCxnSpPr>
            <a:stCxn id="10" idx="3"/>
          </p:cNvCxnSpPr>
          <p:nvPr/>
        </p:nvCxnSpPr>
        <p:spPr>
          <a:xfrm>
            <a:off x="4076699" y="3528060"/>
            <a:ext cx="7086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02879C-D19C-B35E-3748-9DC0E2923CBA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838202" y="914400"/>
            <a:ext cx="1211579" cy="2080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4C5DFB-0655-6788-1C05-98D2CCB22D52}"/>
              </a:ext>
            </a:extLst>
          </p:cNvPr>
          <p:cNvCxnSpPr>
            <a:cxnSpLocks/>
            <a:stCxn id="4" idx="2"/>
            <a:endCxn id="12" idx="1"/>
          </p:cNvCxnSpPr>
          <p:nvPr/>
        </p:nvCxnSpPr>
        <p:spPr>
          <a:xfrm>
            <a:off x="838202" y="4061460"/>
            <a:ext cx="1211579" cy="1737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78E61E-90FC-DEAB-ABA0-0698E18AC7A8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623062" y="3528060"/>
            <a:ext cx="4267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F5ECD0E-35C6-AAC0-6C7A-F010AB96F838}"/>
              </a:ext>
            </a:extLst>
          </p:cNvPr>
          <p:cNvSpPr/>
          <p:nvPr/>
        </p:nvSpPr>
        <p:spPr>
          <a:xfrm>
            <a:off x="4846319" y="3295643"/>
            <a:ext cx="1611623" cy="6210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APP-CD74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5B90A3-EB6A-9164-A101-101CF2CE3CB0}"/>
              </a:ext>
            </a:extLst>
          </p:cNvPr>
          <p:cNvSpPr/>
          <p:nvPr/>
        </p:nvSpPr>
        <p:spPr>
          <a:xfrm>
            <a:off x="4846321" y="5488306"/>
            <a:ext cx="1611626" cy="621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RETN-CAP1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C9BEFF-7A4E-3DFB-80F6-236D063B2ABD}"/>
              </a:ext>
            </a:extLst>
          </p:cNvPr>
          <p:cNvSpPr/>
          <p:nvPr/>
        </p:nvSpPr>
        <p:spPr>
          <a:xfrm>
            <a:off x="4541524" y="5566411"/>
            <a:ext cx="403858" cy="4648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3D9EBF-81D0-0594-115B-F69A962344CC}"/>
              </a:ext>
            </a:extLst>
          </p:cNvPr>
          <p:cNvSpPr/>
          <p:nvPr/>
        </p:nvSpPr>
        <p:spPr>
          <a:xfrm>
            <a:off x="4895855" y="819167"/>
            <a:ext cx="1562088" cy="7695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CCL20-CCR6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FAAF0A-11DE-A623-0131-A77D2EC67E8C}"/>
              </a:ext>
            </a:extLst>
          </p:cNvPr>
          <p:cNvSpPr/>
          <p:nvPr/>
        </p:nvSpPr>
        <p:spPr>
          <a:xfrm>
            <a:off x="4572006" y="998221"/>
            <a:ext cx="403858" cy="4648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657827-A37D-C504-48CD-7B0C62FF674C}"/>
              </a:ext>
            </a:extLst>
          </p:cNvPr>
          <p:cNvSpPr/>
          <p:nvPr/>
        </p:nvSpPr>
        <p:spPr>
          <a:xfrm>
            <a:off x="10142219" y="5219700"/>
            <a:ext cx="2026918" cy="11582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 cell proliferation, exhaustion and immune evasion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45524F-89F3-185C-0FC8-E697590099A3}"/>
              </a:ext>
            </a:extLst>
          </p:cNvPr>
          <p:cNvSpPr/>
          <p:nvPr/>
        </p:nvSpPr>
        <p:spPr>
          <a:xfrm>
            <a:off x="10066025" y="2727952"/>
            <a:ext cx="2125975" cy="17564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 cell migration, proliferation, PD-1 upregulation. May drive exhaustion and immune evasion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4B89AC-AD4F-F45E-B714-0028A59A5CFD}"/>
              </a:ext>
            </a:extLst>
          </p:cNvPr>
          <p:cNvSpPr/>
          <p:nvPr/>
        </p:nvSpPr>
        <p:spPr>
          <a:xfrm>
            <a:off x="10043161" y="325763"/>
            <a:ext cx="2125975" cy="17564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Drives T cell glycolytic reprogramming, activation and immuno-suppression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73DF8CE-CE79-55A5-8F94-5F9122B476C8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 flipV="1">
            <a:off x="6457943" y="1203965"/>
            <a:ext cx="35852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2802A3-3513-FBEB-8D2A-D8BEFA5097ED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 flipV="1">
            <a:off x="6457942" y="3606154"/>
            <a:ext cx="360808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2C92085-0E6D-069C-291F-FD6FF883E009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>
            <a:off x="6457947" y="5798821"/>
            <a:ext cx="36842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FD302B-5574-406E-A946-DA5E398A70DE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6897018" y="5410204"/>
            <a:ext cx="1487377" cy="388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82D1FA2-C0BA-7446-B3E3-437E518D5B48}"/>
              </a:ext>
            </a:extLst>
          </p:cNvPr>
          <p:cNvSpPr/>
          <p:nvPr/>
        </p:nvSpPr>
        <p:spPr>
          <a:xfrm>
            <a:off x="6725628" y="4671071"/>
            <a:ext cx="3317533" cy="7391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Upregulates genes: AHSA1 (immunosuppression), MNK1 (anti-tumour), FOXP3 (immunosuppression)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300417-974E-A176-ECDE-6DD0A06E751B}"/>
              </a:ext>
            </a:extLst>
          </p:cNvPr>
          <p:cNvSpPr txBox="1"/>
          <p:nvPr/>
        </p:nvSpPr>
        <p:spPr>
          <a:xfrm>
            <a:off x="41454" y="41862"/>
            <a:ext cx="3163215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SPP1+ Macrophages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CED4C3-BCF3-4091-9ECF-8033CD78FB44}"/>
              </a:ext>
            </a:extLst>
          </p:cNvPr>
          <p:cNvSpPr txBox="1"/>
          <p:nvPr/>
        </p:nvSpPr>
        <p:spPr>
          <a:xfrm>
            <a:off x="6811822" y="41862"/>
            <a:ext cx="316321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CD4/CD8+ T cells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8E9FA5-BF4F-F267-106A-4284988B3AA2}"/>
              </a:ext>
            </a:extLst>
          </p:cNvPr>
          <p:cNvSpPr txBox="1"/>
          <p:nvPr/>
        </p:nvSpPr>
        <p:spPr>
          <a:xfrm>
            <a:off x="4533936" y="41862"/>
            <a:ext cx="201286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L-R interactions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D8D389-9FDD-E9A4-88F2-AF6D9DA57CF3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076699" y="3606154"/>
            <a:ext cx="769620" cy="2192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863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9179-8619-5A0A-DCFD-3F74197C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D2F1FB3-DCE3-C560-55D6-1707C82E43FF}"/>
              </a:ext>
            </a:extLst>
          </p:cNvPr>
          <p:cNvSpPr/>
          <p:nvPr/>
        </p:nvSpPr>
        <p:spPr>
          <a:xfrm>
            <a:off x="6546800" y="-61508"/>
            <a:ext cx="5714026" cy="70187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19D2D7-F57E-F43C-FE31-4D14F1F9B732}"/>
              </a:ext>
            </a:extLst>
          </p:cNvPr>
          <p:cNvSpPr/>
          <p:nvPr/>
        </p:nvSpPr>
        <p:spPr>
          <a:xfrm>
            <a:off x="4377624" y="-26215"/>
            <a:ext cx="2248946" cy="71054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79411B5-D9CA-7C55-EC70-A86EB0BAFB1C}"/>
              </a:ext>
            </a:extLst>
          </p:cNvPr>
          <p:cNvSpPr/>
          <p:nvPr/>
        </p:nvSpPr>
        <p:spPr>
          <a:xfrm>
            <a:off x="0" y="-18148"/>
            <a:ext cx="4407248" cy="70187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5A88A-D1FC-DFAE-E3A5-EBF0DBB2E284}"/>
              </a:ext>
            </a:extLst>
          </p:cNvPr>
          <p:cNvSpPr/>
          <p:nvPr/>
        </p:nvSpPr>
        <p:spPr>
          <a:xfrm>
            <a:off x="53342" y="2994660"/>
            <a:ext cx="1569720" cy="10668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Low CES1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C9017-CE04-6D4E-72C2-396538964B09}"/>
              </a:ext>
            </a:extLst>
          </p:cNvPr>
          <p:cNvSpPr/>
          <p:nvPr/>
        </p:nvSpPr>
        <p:spPr>
          <a:xfrm>
            <a:off x="2049781" y="365760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NLRP3 inflammasome priming, IL-1B, and HIF1a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2CF11F-F5D2-CD0C-8975-B6B00C868A39}"/>
              </a:ext>
            </a:extLst>
          </p:cNvPr>
          <p:cNvSpPr/>
          <p:nvPr/>
        </p:nvSpPr>
        <p:spPr>
          <a:xfrm>
            <a:off x="2049781" y="2718126"/>
            <a:ext cx="2012864" cy="1808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Decreased </a:t>
            </a:r>
            <a:r>
              <a:rPr lang="en-GB" dirty="0" err="1"/>
              <a:t>PPARy</a:t>
            </a:r>
            <a:r>
              <a:rPr lang="en-GB" dirty="0"/>
              <a:t> signalling and retention of inflammasome-active antigen presenting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74224-2B39-CFEA-D68E-ABC00BA214B0}"/>
              </a:ext>
            </a:extLst>
          </p:cNvPr>
          <p:cNvSpPr/>
          <p:nvPr/>
        </p:nvSpPr>
        <p:spPr>
          <a:xfrm>
            <a:off x="2049781" y="5059681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TAG accumulation (</a:t>
            </a:r>
            <a:r>
              <a:rPr lang="en-GB" dirty="0" err="1"/>
              <a:t>liptoxicity</a:t>
            </a:r>
            <a:r>
              <a:rPr lang="en-GB" dirty="0"/>
              <a:t>) and oxidative stress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1C4A8A-AA40-0C9A-1A69-A980BC46C71E}"/>
              </a:ext>
            </a:extLst>
          </p:cNvPr>
          <p:cNvCxnSpPr>
            <a:cxnSpLocks/>
            <a:stCxn id="10" idx="3"/>
            <a:endCxn id="29" idx="1"/>
          </p:cNvCxnSpPr>
          <p:nvPr/>
        </p:nvCxnSpPr>
        <p:spPr>
          <a:xfrm>
            <a:off x="4062645" y="3622204"/>
            <a:ext cx="744296" cy="1702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D0A2EB-8CA3-9585-2B00-CCA5FA87430A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838202" y="914400"/>
            <a:ext cx="1211579" cy="2080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865499-9B79-926E-F781-CE5BF4377516}"/>
              </a:ext>
            </a:extLst>
          </p:cNvPr>
          <p:cNvCxnSpPr>
            <a:cxnSpLocks/>
            <a:stCxn id="4" idx="2"/>
            <a:endCxn id="12" idx="1"/>
          </p:cNvCxnSpPr>
          <p:nvPr/>
        </p:nvCxnSpPr>
        <p:spPr>
          <a:xfrm>
            <a:off x="838202" y="4061460"/>
            <a:ext cx="1211579" cy="1737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012447-3C86-F72C-EF5D-AC896FBB8798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623062" y="3528060"/>
            <a:ext cx="426719" cy="94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F0AEBB5-CA48-C6BA-B827-CE63EC8B2733}"/>
              </a:ext>
            </a:extLst>
          </p:cNvPr>
          <p:cNvSpPr/>
          <p:nvPr/>
        </p:nvSpPr>
        <p:spPr>
          <a:xfrm>
            <a:off x="4806941" y="5013969"/>
            <a:ext cx="1611623" cy="6210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HLA-DQA2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F835DF-0F63-28CB-BC01-21C5BC4F991C}"/>
              </a:ext>
            </a:extLst>
          </p:cNvPr>
          <p:cNvSpPr/>
          <p:nvPr/>
        </p:nvSpPr>
        <p:spPr>
          <a:xfrm>
            <a:off x="4806941" y="1413196"/>
            <a:ext cx="1562088" cy="7695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HLA-DMB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28AD0D-7057-EF4D-9019-D8D0F1800AB5}"/>
              </a:ext>
            </a:extLst>
          </p:cNvPr>
          <p:cNvSpPr/>
          <p:nvPr/>
        </p:nvSpPr>
        <p:spPr>
          <a:xfrm>
            <a:off x="9997900" y="4945385"/>
            <a:ext cx="2194100" cy="1706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Correlation with PD-L1 upregulation and CD8 exhaustion (but my results suggest no CD8 communication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544E90-2AEC-1B1C-3925-30B4B42F0604}"/>
              </a:ext>
            </a:extLst>
          </p:cNvPr>
          <p:cNvSpPr/>
          <p:nvPr/>
        </p:nvSpPr>
        <p:spPr>
          <a:xfrm>
            <a:off x="10142219" y="2919412"/>
            <a:ext cx="2049781" cy="1188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Direct cytotoxic killing of tumour cells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65EC7A-E693-BED2-F725-76E5B46A618C}"/>
              </a:ext>
            </a:extLst>
          </p:cNvPr>
          <p:cNvSpPr/>
          <p:nvPr/>
        </p:nvSpPr>
        <p:spPr>
          <a:xfrm>
            <a:off x="10043161" y="325763"/>
            <a:ext cx="2125975" cy="17564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Supports antigen-specific CD4+ T recognition- improved prognosis but can drive exhaustion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2AFB55-DA11-2862-789A-9FBEDC570F61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 flipV="1">
            <a:off x="6369029" y="1203965"/>
            <a:ext cx="3674132" cy="59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0351D1F-8C3A-87AD-9888-0C311C13DF7E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 flipV="1">
            <a:off x="6418564" y="3513776"/>
            <a:ext cx="3723655" cy="1810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65038DE-52FD-1D60-4631-0BB84893C2A9}"/>
              </a:ext>
            </a:extLst>
          </p:cNvPr>
          <p:cNvCxnSpPr>
            <a:cxnSpLocks/>
            <a:stCxn id="29" idx="3"/>
            <a:endCxn id="39" idx="1"/>
          </p:cNvCxnSpPr>
          <p:nvPr/>
        </p:nvCxnSpPr>
        <p:spPr>
          <a:xfrm>
            <a:off x="6418564" y="5324481"/>
            <a:ext cx="3579336" cy="474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632E84-0864-219C-231D-6B7A1D91C8E0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7799525" y="1569360"/>
            <a:ext cx="508734" cy="564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2EF17DA-B592-E829-7747-3A4ACA1BE3D3}"/>
              </a:ext>
            </a:extLst>
          </p:cNvPr>
          <p:cNvSpPr/>
          <p:nvPr/>
        </p:nvSpPr>
        <p:spPr>
          <a:xfrm>
            <a:off x="6697551" y="2134221"/>
            <a:ext cx="3221416" cy="15936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Upregulates genes: RECQL4 (enhancing immune recognition (maybe supports evasion)), ANAPC11,COX6B1 (metabolic support), TRADD (pro survival and inflammatory), BECN1 (inflammation control)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441690-C5E0-8B05-A546-F93E881BB28C}"/>
              </a:ext>
            </a:extLst>
          </p:cNvPr>
          <p:cNvSpPr txBox="1"/>
          <p:nvPr/>
        </p:nvSpPr>
        <p:spPr>
          <a:xfrm>
            <a:off x="41454" y="41862"/>
            <a:ext cx="3163215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C1QC+ Macrophages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78E4E6-4506-83A9-9E2E-4C937A62F2EC}"/>
              </a:ext>
            </a:extLst>
          </p:cNvPr>
          <p:cNvSpPr txBox="1"/>
          <p:nvPr/>
        </p:nvSpPr>
        <p:spPr>
          <a:xfrm>
            <a:off x="6811822" y="41862"/>
            <a:ext cx="316321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CD4/CD8+ T cells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CF2AF2-D863-2FB1-5F85-EF90D7EEB5C9}"/>
              </a:ext>
            </a:extLst>
          </p:cNvPr>
          <p:cNvSpPr txBox="1"/>
          <p:nvPr/>
        </p:nvSpPr>
        <p:spPr>
          <a:xfrm>
            <a:off x="4533936" y="41862"/>
            <a:ext cx="201286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L-R interactions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1DD966-6ABD-2D40-2494-A0B09764E94E}"/>
              </a:ext>
            </a:extLst>
          </p:cNvPr>
          <p:cNvCxnSpPr>
            <a:cxnSpLocks/>
            <a:stCxn id="10" idx="3"/>
            <a:endCxn id="35" idx="1"/>
          </p:cNvCxnSpPr>
          <p:nvPr/>
        </p:nvCxnSpPr>
        <p:spPr>
          <a:xfrm flipV="1">
            <a:off x="4062645" y="1797995"/>
            <a:ext cx="744296" cy="1824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EA94C37-4FC6-707A-8B67-F36FEF93B6E5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6427405" y="1203965"/>
            <a:ext cx="3615756" cy="4155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38ABCB1-54A9-E1A0-5E9D-DD535BC8E4E8}"/>
              </a:ext>
            </a:extLst>
          </p:cNvPr>
          <p:cNvCxnSpPr>
            <a:cxnSpLocks/>
            <a:stCxn id="29" idx="3"/>
            <a:endCxn id="60" idx="1"/>
          </p:cNvCxnSpPr>
          <p:nvPr/>
        </p:nvCxnSpPr>
        <p:spPr>
          <a:xfrm flipV="1">
            <a:off x="6418564" y="2931039"/>
            <a:ext cx="278987" cy="2393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82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F99F-4CE6-3373-AB67-7FCF993C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6282A2AF-135A-8920-D5B9-6BD317F8BADD}"/>
              </a:ext>
            </a:extLst>
          </p:cNvPr>
          <p:cNvSpPr/>
          <p:nvPr/>
        </p:nvSpPr>
        <p:spPr>
          <a:xfrm>
            <a:off x="9726709" y="-61508"/>
            <a:ext cx="3307192" cy="70187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C25FEA0-33E8-68E4-37C4-C865E9A1509C}"/>
              </a:ext>
            </a:extLst>
          </p:cNvPr>
          <p:cNvSpPr/>
          <p:nvPr/>
        </p:nvSpPr>
        <p:spPr>
          <a:xfrm>
            <a:off x="6546800" y="-61508"/>
            <a:ext cx="3307192" cy="70187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5B18874-B5D6-3B9D-CF1C-AB2DE541CC21}"/>
              </a:ext>
            </a:extLst>
          </p:cNvPr>
          <p:cNvSpPr/>
          <p:nvPr/>
        </p:nvSpPr>
        <p:spPr>
          <a:xfrm>
            <a:off x="4377624" y="-26215"/>
            <a:ext cx="2248946" cy="71054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A973803-E141-7959-E805-FA1612A8254F}"/>
              </a:ext>
            </a:extLst>
          </p:cNvPr>
          <p:cNvSpPr/>
          <p:nvPr/>
        </p:nvSpPr>
        <p:spPr>
          <a:xfrm>
            <a:off x="0" y="-18148"/>
            <a:ext cx="4407248" cy="70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FA63BC-A88D-7DC1-1261-4F61F1F3517E}"/>
              </a:ext>
            </a:extLst>
          </p:cNvPr>
          <p:cNvSpPr/>
          <p:nvPr/>
        </p:nvSpPr>
        <p:spPr>
          <a:xfrm>
            <a:off x="53342" y="2994660"/>
            <a:ext cx="1569720" cy="1066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High CES1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84CB8C-79A9-CC83-E9FD-001E1151F248}"/>
              </a:ext>
            </a:extLst>
          </p:cNvPr>
          <p:cNvSpPr/>
          <p:nvPr/>
        </p:nvSpPr>
        <p:spPr>
          <a:xfrm>
            <a:off x="2049781" y="365760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Decreased NLRP3 inflammasome priming, IL-1B, and HIF1a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CC1587-78BC-A590-1493-42207D1F5454}"/>
              </a:ext>
            </a:extLst>
          </p:cNvPr>
          <p:cNvSpPr/>
          <p:nvPr/>
        </p:nvSpPr>
        <p:spPr>
          <a:xfrm>
            <a:off x="2049781" y="2788920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Sustained </a:t>
            </a:r>
            <a:r>
              <a:rPr lang="en-GB" dirty="0" err="1"/>
              <a:t>PPARy</a:t>
            </a:r>
            <a:r>
              <a:rPr lang="en-GB" dirty="0"/>
              <a:t> signalling and lipid handling and anti-inflammatory polarization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2D0E51-C18E-08C1-06CE-ED1861312237}"/>
              </a:ext>
            </a:extLst>
          </p:cNvPr>
          <p:cNvSpPr/>
          <p:nvPr/>
        </p:nvSpPr>
        <p:spPr>
          <a:xfrm>
            <a:off x="2049781" y="5059681"/>
            <a:ext cx="2026918" cy="147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TAG hydrolysis, increased free fatty acids, increased FAO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6BB0B-D380-6ECC-A497-4FB37677CC0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838202" y="914400"/>
            <a:ext cx="1211579" cy="2080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07939C-7CB0-A8DA-F039-0E28BA2649DD}"/>
              </a:ext>
            </a:extLst>
          </p:cNvPr>
          <p:cNvCxnSpPr>
            <a:cxnSpLocks/>
            <a:stCxn id="4" idx="2"/>
            <a:endCxn id="12" idx="1"/>
          </p:cNvCxnSpPr>
          <p:nvPr/>
        </p:nvCxnSpPr>
        <p:spPr>
          <a:xfrm>
            <a:off x="838202" y="4061460"/>
            <a:ext cx="1211579" cy="1737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A2EE97-DFFC-876A-2C68-F892C3188A35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623062" y="3528060"/>
            <a:ext cx="4267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92E9B42-3D13-E754-9622-80CF2F1FB4A8}"/>
              </a:ext>
            </a:extLst>
          </p:cNvPr>
          <p:cNvSpPr/>
          <p:nvPr/>
        </p:nvSpPr>
        <p:spPr>
          <a:xfrm>
            <a:off x="4846319" y="3295643"/>
            <a:ext cx="1611623" cy="6210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TGFB1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7CF0A4-7381-92E9-06A5-E62FCBF9EFF4}"/>
              </a:ext>
            </a:extLst>
          </p:cNvPr>
          <p:cNvSpPr/>
          <p:nvPr/>
        </p:nvSpPr>
        <p:spPr>
          <a:xfrm>
            <a:off x="4895855" y="819167"/>
            <a:ext cx="1562088" cy="7695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Increased VEGFA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36C235-5762-1AAF-01DE-A2B13668D155}"/>
              </a:ext>
            </a:extLst>
          </p:cNvPr>
          <p:cNvSpPr/>
          <p:nvPr/>
        </p:nvSpPr>
        <p:spPr>
          <a:xfrm>
            <a:off x="7063597" y="2289609"/>
            <a:ext cx="2026918" cy="11582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CAF differentiation to angiogenic </a:t>
            </a:r>
            <a:r>
              <a:rPr lang="en-GB" dirty="0" err="1"/>
              <a:t>myCAF</a:t>
            </a:r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E6A5D0-6A2D-0D07-4000-85EC07E3BAAF}"/>
              </a:ext>
            </a:extLst>
          </p:cNvPr>
          <p:cNvSpPr/>
          <p:nvPr/>
        </p:nvSpPr>
        <p:spPr>
          <a:xfrm>
            <a:off x="7014068" y="4148695"/>
            <a:ext cx="2125975" cy="11582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Driving lipid rich FAO phenotype 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A9489E5-70DE-5387-0DFC-9673CEBBB24A}"/>
              </a:ext>
            </a:extLst>
          </p:cNvPr>
          <p:cNvSpPr/>
          <p:nvPr/>
        </p:nvSpPr>
        <p:spPr>
          <a:xfrm>
            <a:off x="7063597" y="455289"/>
            <a:ext cx="2026918" cy="1431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highlight>
                  <a:srgbClr val="FFFF00"/>
                </a:highlight>
              </a:rPr>
              <a:t>Initiates angiogenesis,  metastasis and immune escape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05E16DB-18BF-731A-9ABD-613A76ACEC49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 flipV="1">
            <a:off x="6457943" y="1170864"/>
            <a:ext cx="605654" cy="33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5591874-250F-89A5-19C5-137301421035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>
            <a:off x="6457942" y="3606155"/>
            <a:ext cx="556126" cy="1121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B9E37F-680D-A528-698B-ABF1917AF6F4}"/>
              </a:ext>
            </a:extLst>
          </p:cNvPr>
          <p:cNvCxnSpPr>
            <a:cxnSpLocks/>
            <a:stCxn id="41" idx="0"/>
            <a:endCxn id="39" idx="2"/>
          </p:cNvCxnSpPr>
          <p:nvPr/>
        </p:nvCxnSpPr>
        <p:spPr>
          <a:xfrm flipV="1">
            <a:off x="8077056" y="3447850"/>
            <a:ext cx="0" cy="700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8EE474D-EFE8-7170-6962-77BF6070409F}"/>
              </a:ext>
            </a:extLst>
          </p:cNvPr>
          <p:cNvSpPr txBox="1"/>
          <p:nvPr/>
        </p:nvSpPr>
        <p:spPr>
          <a:xfrm>
            <a:off x="41454" y="41862"/>
            <a:ext cx="3163215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SPP1+ Macrophages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352327-AC1B-317C-201A-E9AD9E60E2D4}"/>
              </a:ext>
            </a:extLst>
          </p:cNvPr>
          <p:cNvSpPr txBox="1"/>
          <p:nvPr/>
        </p:nvSpPr>
        <p:spPr>
          <a:xfrm>
            <a:off x="8923829" y="11382"/>
            <a:ext cx="161418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u="sng" dirty="0"/>
              <a:t>CAFs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C8CC14-93C2-8D01-8F5D-B26829B146AD}"/>
              </a:ext>
            </a:extLst>
          </p:cNvPr>
          <p:cNvSpPr txBox="1"/>
          <p:nvPr/>
        </p:nvSpPr>
        <p:spPr>
          <a:xfrm>
            <a:off x="4533936" y="41862"/>
            <a:ext cx="201286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L-R interactions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FD0327-8BF9-830C-A207-A173670999C4}"/>
              </a:ext>
            </a:extLst>
          </p:cNvPr>
          <p:cNvSpPr/>
          <p:nvPr/>
        </p:nvSpPr>
        <p:spPr>
          <a:xfrm>
            <a:off x="7226026" y="5818798"/>
            <a:ext cx="1569720" cy="1066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High CES1 Expression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81D1C9-8F64-57C9-B6F6-7A280CB65C81}"/>
              </a:ext>
            </a:extLst>
          </p:cNvPr>
          <p:cNvCxnSpPr>
            <a:cxnSpLocks/>
          </p:cNvCxnSpPr>
          <p:nvPr/>
        </p:nvCxnSpPr>
        <p:spPr>
          <a:xfrm>
            <a:off x="7565680" y="5332243"/>
            <a:ext cx="0" cy="466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A23C46-0CCA-044A-6B45-8A15CCAFDC47}"/>
              </a:ext>
            </a:extLst>
          </p:cNvPr>
          <p:cNvCxnSpPr>
            <a:cxnSpLocks/>
          </p:cNvCxnSpPr>
          <p:nvPr/>
        </p:nvCxnSpPr>
        <p:spPr>
          <a:xfrm flipV="1">
            <a:off x="8400362" y="5332243"/>
            <a:ext cx="0" cy="466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CB6244-8769-9A28-60C7-63424A0AA9F9}"/>
              </a:ext>
            </a:extLst>
          </p:cNvPr>
          <p:cNvCxnSpPr>
            <a:cxnSpLocks/>
          </p:cNvCxnSpPr>
          <p:nvPr/>
        </p:nvCxnSpPr>
        <p:spPr>
          <a:xfrm flipV="1">
            <a:off x="5682656" y="1624057"/>
            <a:ext cx="0" cy="167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79F4E18-C1F7-32F7-3180-AB4019190E52}"/>
              </a:ext>
            </a:extLst>
          </p:cNvPr>
          <p:cNvCxnSpPr>
            <a:cxnSpLocks/>
            <a:stCxn id="39" idx="0"/>
            <a:endCxn id="43" idx="2"/>
          </p:cNvCxnSpPr>
          <p:nvPr/>
        </p:nvCxnSpPr>
        <p:spPr>
          <a:xfrm flipV="1">
            <a:off x="8077056" y="1886438"/>
            <a:ext cx="0" cy="403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D024A78-A6C7-ECEC-671C-2E36F8C12B1F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6457942" y="2868730"/>
            <a:ext cx="605655" cy="744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99FC098-0E65-88EF-721D-371873CC3EC4}"/>
              </a:ext>
            </a:extLst>
          </p:cNvPr>
          <p:cNvSpPr/>
          <p:nvPr/>
        </p:nvSpPr>
        <p:spPr>
          <a:xfrm>
            <a:off x="10216608" y="509401"/>
            <a:ext cx="2026918" cy="1431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highlight>
                  <a:srgbClr val="FFFF00"/>
                </a:highlight>
              </a:rPr>
              <a:t>Secretes Lipids to support tumour growth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43D6096-1336-3529-9D11-A26531A52782}"/>
              </a:ext>
            </a:extLst>
          </p:cNvPr>
          <p:cNvCxnSpPr>
            <a:cxnSpLocks/>
            <a:stCxn id="121" idx="0"/>
            <a:endCxn id="65" idx="2"/>
          </p:cNvCxnSpPr>
          <p:nvPr/>
        </p:nvCxnSpPr>
        <p:spPr>
          <a:xfrm flipH="1" flipV="1">
            <a:off x="11230067" y="1940550"/>
            <a:ext cx="47816" cy="2148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3288FF8-9088-317C-811A-D2FE0A9F7E29}"/>
              </a:ext>
            </a:extLst>
          </p:cNvPr>
          <p:cNvCxnSpPr>
            <a:cxnSpLocks/>
            <a:stCxn id="12" idx="3"/>
            <a:endCxn id="29" idx="1"/>
          </p:cNvCxnSpPr>
          <p:nvPr/>
        </p:nvCxnSpPr>
        <p:spPr>
          <a:xfrm flipV="1">
            <a:off x="4076699" y="3606155"/>
            <a:ext cx="769620" cy="2192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3596CE6-5961-1F9D-3D94-B900600788B1}"/>
              </a:ext>
            </a:extLst>
          </p:cNvPr>
          <p:cNvCxnSpPr>
            <a:cxnSpLocks/>
            <a:stCxn id="10" idx="3"/>
            <a:endCxn id="29" idx="1"/>
          </p:cNvCxnSpPr>
          <p:nvPr/>
        </p:nvCxnSpPr>
        <p:spPr>
          <a:xfrm>
            <a:off x="4076699" y="3528060"/>
            <a:ext cx="769620" cy="78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59AAD6F-68E9-A664-19C2-9E00B35D5706}"/>
              </a:ext>
            </a:extLst>
          </p:cNvPr>
          <p:cNvCxnSpPr>
            <a:cxnSpLocks/>
            <a:stCxn id="10" idx="3"/>
            <a:endCxn id="35" idx="1"/>
          </p:cNvCxnSpPr>
          <p:nvPr/>
        </p:nvCxnSpPr>
        <p:spPr>
          <a:xfrm flipV="1">
            <a:off x="4076699" y="1203966"/>
            <a:ext cx="819156" cy="2324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316BBC3-0F2C-76BD-EC82-D3C28DD9001B}"/>
              </a:ext>
            </a:extLst>
          </p:cNvPr>
          <p:cNvSpPr/>
          <p:nvPr/>
        </p:nvSpPr>
        <p:spPr>
          <a:xfrm>
            <a:off x="10363766" y="4088704"/>
            <a:ext cx="1828234" cy="1050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FA synthesis phenotype 2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2B0BAED-AED7-3C5F-2448-D55EA585FEED}"/>
              </a:ext>
            </a:extLst>
          </p:cNvPr>
          <p:cNvCxnSpPr>
            <a:cxnSpLocks/>
          </p:cNvCxnSpPr>
          <p:nvPr/>
        </p:nvCxnSpPr>
        <p:spPr>
          <a:xfrm>
            <a:off x="9140043" y="4553878"/>
            <a:ext cx="1181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49DA1B1-928E-737B-0B8F-86BD7CE68EE6}"/>
              </a:ext>
            </a:extLst>
          </p:cNvPr>
          <p:cNvCxnSpPr>
            <a:cxnSpLocks/>
          </p:cNvCxnSpPr>
          <p:nvPr/>
        </p:nvCxnSpPr>
        <p:spPr>
          <a:xfrm flipH="1">
            <a:off x="9223943" y="4900757"/>
            <a:ext cx="10978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3207E7AC-F3F3-9D35-C565-D1F6FCFEDD1F}"/>
              </a:ext>
            </a:extLst>
          </p:cNvPr>
          <p:cNvSpPr/>
          <p:nvPr/>
        </p:nvSpPr>
        <p:spPr>
          <a:xfrm>
            <a:off x="9359384" y="4701121"/>
            <a:ext cx="917987" cy="3992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CD36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B7F8575-6B5C-4987-1012-32E3539559B7}"/>
              </a:ext>
            </a:extLst>
          </p:cNvPr>
          <p:cNvCxnSpPr>
            <a:cxnSpLocks/>
          </p:cNvCxnSpPr>
          <p:nvPr/>
        </p:nvCxnSpPr>
        <p:spPr>
          <a:xfrm flipV="1">
            <a:off x="8838007" y="5139204"/>
            <a:ext cx="934864" cy="1212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392FBAC-B81C-14C1-2148-C8D3421DC71B}"/>
              </a:ext>
            </a:extLst>
          </p:cNvPr>
          <p:cNvSpPr/>
          <p:nvPr/>
        </p:nvSpPr>
        <p:spPr>
          <a:xfrm>
            <a:off x="9103510" y="5506572"/>
            <a:ext cx="403858" cy="4648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6613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3900-9C1F-54A2-9ACA-A9045F816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Older/original/editable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852E6-F0AB-E5C7-98B2-7BC81664D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7425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7547F2-1245-4B8C-4CF8-AE247ECE8993}"/>
              </a:ext>
            </a:extLst>
          </p:cNvPr>
          <p:cNvSpPr txBox="1"/>
          <p:nvPr/>
        </p:nvSpPr>
        <p:spPr>
          <a:xfrm>
            <a:off x="1088539" y="5863565"/>
            <a:ext cx="8615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Figure 2: Clustering Analysis of Myeloid Cells Reveals Genetically Distinct SPP1+/C1QC+ Macrophage Populations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795680-E5CD-9FF8-0304-6AB831A2A6AC}"/>
              </a:ext>
            </a:extLst>
          </p:cNvPr>
          <p:cNvGrpSpPr/>
          <p:nvPr/>
        </p:nvGrpSpPr>
        <p:grpSpPr>
          <a:xfrm>
            <a:off x="3640286" y="1108213"/>
            <a:ext cx="6682151" cy="4175637"/>
            <a:chOff x="3640286" y="1108213"/>
            <a:chExt cx="6682151" cy="41756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F342910-360C-7F7F-E0F0-F7A8EA3A5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0286" y="1108213"/>
              <a:ext cx="6682151" cy="4175637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274E4D-EE0C-CDA7-6E7A-46E87FAAF3AB}"/>
                </a:ext>
              </a:extLst>
            </p:cNvPr>
            <p:cNvGrpSpPr/>
            <p:nvPr/>
          </p:nvGrpSpPr>
          <p:grpSpPr>
            <a:xfrm>
              <a:off x="4108263" y="2500663"/>
              <a:ext cx="2661824" cy="757786"/>
              <a:chOff x="1693862" y="2824437"/>
              <a:chExt cx="2661824" cy="757786"/>
            </a:xfrm>
          </p:grpSpPr>
          <p:sp>
            <p:nvSpPr>
              <p:cNvPr id="35" name="Left Brace 34">
                <a:extLst>
                  <a:ext uri="{FF2B5EF4-FFF2-40B4-BE49-F238E27FC236}">
                    <a16:creationId xmlns:a16="http://schemas.microsoft.com/office/drawing/2014/main" id="{DACB534B-C165-2A4F-99DA-5F5F76698808}"/>
                  </a:ext>
                </a:extLst>
              </p:cNvPr>
              <p:cNvSpPr/>
              <p:nvPr/>
            </p:nvSpPr>
            <p:spPr>
              <a:xfrm rot="5400000">
                <a:off x="1829753" y="3353439"/>
                <a:ext cx="84136" cy="355917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Left Brace 36">
                <a:extLst>
                  <a:ext uri="{FF2B5EF4-FFF2-40B4-BE49-F238E27FC236}">
                    <a16:creationId xmlns:a16="http://schemas.microsoft.com/office/drawing/2014/main" id="{EC011B75-B6F5-1700-356D-A7070DD8F490}"/>
                  </a:ext>
                </a:extLst>
              </p:cNvPr>
              <p:cNvSpPr/>
              <p:nvPr/>
            </p:nvSpPr>
            <p:spPr>
              <a:xfrm rot="5400000">
                <a:off x="2325688" y="3244853"/>
                <a:ext cx="84136" cy="573089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Left Brace 37">
                <a:extLst>
                  <a:ext uri="{FF2B5EF4-FFF2-40B4-BE49-F238E27FC236}">
                    <a16:creationId xmlns:a16="http://schemas.microsoft.com/office/drawing/2014/main" id="{6334EFE2-CBC5-3976-BFCC-54D2BA2DFE95}"/>
                  </a:ext>
                </a:extLst>
              </p:cNvPr>
              <p:cNvSpPr/>
              <p:nvPr/>
            </p:nvSpPr>
            <p:spPr>
              <a:xfrm rot="5400000">
                <a:off x="2976563" y="3244853"/>
                <a:ext cx="84135" cy="573089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Left Brace 38">
                <a:extLst>
                  <a:ext uri="{FF2B5EF4-FFF2-40B4-BE49-F238E27FC236}">
                    <a16:creationId xmlns:a16="http://schemas.microsoft.com/office/drawing/2014/main" id="{87CECA5D-ED2B-385F-1EBE-EA02F41C132B}"/>
                  </a:ext>
                </a:extLst>
              </p:cNvPr>
              <p:cNvSpPr/>
              <p:nvPr/>
            </p:nvSpPr>
            <p:spPr>
              <a:xfrm rot="5400000">
                <a:off x="3344068" y="3483771"/>
                <a:ext cx="84137" cy="95251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Left Brace 39">
                <a:extLst>
                  <a:ext uri="{FF2B5EF4-FFF2-40B4-BE49-F238E27FC236}">
                    <a16:creationId xmlns:a16="http://schemas.microsoft.com/office/drawing/2014/main" id="{46C2F65F-8BFE-C3C2-DD9C-BDFA85B19F3E}"/>
                  </a:ext>
                </a:extLst>
              </p:cNvPr>
              <p:cNvSpPr/>
              <p:nvPr/>
            </p:nvSpPr>
            <p:spPr>
              <a:xfrm rot="5400000">
                <a:off x="3664159" y="3300625"/>
                <a:ext cx="84137" cy="461543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Left Brace 40">
                <a:extLst>
                  <a:ext uri="{FF2B5EF4-FFF2-40B4-BE49-F238E27FC236}">
                    <a16:creationId xmlns:a16="http://schemas.microsoft.com/office/drawing/2014/main" id="{E56F1D8F-9712-583E-EF6D-4E3FB2E8D042}"/>
                  </a:ext>
                </a:extLst>
              </p:cNvPr>
              <p:cNvSpPr/>
              <p:nvPr/>
            </p:nvSpPr>
            <p:spPr>
              <a:xfrm rot="5400000">
                <a:off x="4110037" y="3368676"/>
                <a:ext cx="84136" cy="325439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B028BCB-E8E8-D844-2258-AD2915212B16}"/>
                  </a:ext>
                </a:extLst>
              </p:cNvPr>
              <p:cNvSpPr txBox="1"/>
              <p:nvPr/>
            </p:nvSpPr>
            <p:spPr>
              <a:xfrm rot="18283549">
                <a:off x="1612588" y="3113099"/>
                <a:ext cx="73818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700" dirty="0">
                    <a:solidFill>
                      <a:srgbClr val="FF0000"/>
                    </a:solidFill>
                  </a:rPr>
                  <a:t>Macro-FCN1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8B7C75-BD76-ED03-49CB-C70485DEFEED}"/>
                  </a:ext>
                </a:extLst>
              </p:cNvPr>
              <p:cNvSpPr txBox="1"/>
              <p:nvPr/>
            </p:nvSpPr>
            <p:spPr>
              <a:xfrm rot="18283549">
                <a:off x="2118233" y="3113100"/>
                <a:ext cx="73818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700" dirty="0">
                    <a:solidFill>
                      <a:srgbClr val="FF0000"/>
                    </a:solidFill>
                  </a:rPr>
                  <a:t>Macro-SPP1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E2000A-09B5-8369-7F11-150D00FF60A9}"/>
                  </a:ext>
                </a:extLst>
              </p:cNvPr>
              <p:cNvSpPr txBox="1"/>
              <p:nvPr/>
            </p:nvSpPr>
            <p:spPr>
              <a:xfrm rot="18283549">
                <a:off x="2787703" y="3113101"/>
                <a:ext cx="73818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700" dirty="0">
                    <a:solidFill>
                      <a:srgbClr val="FF0000"/>
                    </a:solidFill>
                  </a:rPr>
                  <a:t>Macro-C1QC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7477CCD-5B1E-82F0-044A-757F80CEADF4}"/>
                  </a:ext>
                </a:extLst>
              </p:cNvPr>
              <p:cNvSpPr txBox="1"/>
              <p:nvPr/>
            </p:nvSpPr>
            <p:spPr>
              <a:xfrm rot="18283549">
                <a:off x="3132555" y="3113100"/>
                <a:ext cx="73818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700" dirty="0">
                    <a:solidFill>
                      <a:srgbClr val="FF0000"/>
                    </a:solidFill>
                  </a:rPr>
                  <a:t>Macro-MKI67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2390AE0-B398-A60F-C10A-1ADE27B76A82}"/>
                  </a:ext>
                </a:extLst>
              </p:cNvPr>
              <p:cNvSpPr txBox="1"/>
              <p:nvPr/>
            </p:nvSpPr>
            <p:spPr>
              <a:xfrm rot="18283549">
                <a:off x="3466913" y="3093503"/>
                <a:ext cx="73818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700" dirty="0">
                    <a:solidFill>
                      <a:srgbClr val="FF0000"/>
                    </a:solidFill>
                  </a:rPr>
                  <a:t>CD1/2/3/pDC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56CE5EE-F986-3048-9A62-CBF48E4A8B81}"/>
                  </a:ext>
                </a:extLst>
              </p:cNvPr>
              <p:cNvSpPr txBox="1"/>
              <p:nvPr/>
            </p:nvSpPr>
            <p:spPr>
              <a:xfrm rot="18283549">
                <a:off x="3886565" y="3113101"/>
                <a:ext cx="73818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700" dirty="0">
                    <a:solidFill>
                      <a:srgbClr val="FF0000"/>
                    </a:solidFill>
                  </a:rPr>
                  <a:t>Doublets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875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746291A9-82ED-5EF4-27C5-BCADEFEEFB34}"/>
              </a:ext>
            </a:extLst>
          </p:cNvPr>
          <p:cNvGrpSpPr/>
          <p:nvPr/>
        </p:nvGrpSpPr>
        <p:grpSpPr>
          <a:xfrm>
            <a:off x="3028950" y="403596"/>
            <a:ext cx="5466120" cy="6136986"/>
            <a:chOff x="3028950" y="403596"/>
            <a:chExt cx="5466120" cy="6136986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1EB8028-C38A-86BE-8F79-18FE43E8474C}"/>
                </a:ext>
              </a:extLst>
            </p:cNvPr>
            <p:cNvGrpSpPr/>
            <p:nvPr/>
          </p:nvGrpSpPr>
          <p:grpSpPr>
            <a:xfrm>
              <a:off x="3028950" y="403596"/>
              <a:ext cx="5466120" cy="6136986"/>
              <a:chOff x="3028950" y="403596"/>
              <a:chExt cx="5466120" cy="6136986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F11A3E9-98B3-8D4E-AFFA-126FC8BB84D9}"/>
                  </a:ext>
                </a:extLst>
              </p:cNvPr>
              <p:cNvGrpSpPr/>
              <p:nvPr/>
            </p:nvGrpSpPr>
            <p:grpSpPr>
              <a:xfrm>
                <a:off x="3296592" y="403596"/>
                <a:ext cx="5198478" cy="6136986"/>
                <a:chOff x="3296592" y="403596"/>
                <a:chExt cx="5198478" cy="6136986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74C4E344-BB93-3D17-BD95-800935A77C05}"/>
                    </a:ext>
                  </a:extLst>
                </p:cNvPr>
                <p:cNvGrpSpPr/>
                <p:nvPr/>
              </p:nvGrpSpPr>
              <p:grpSpPr>
                <a:xfrm>
                  <a:off x="3296592" y="403596"/>
                  <a:ext cx="5198478" cy="6136986"/>
                  <a:chOff x="3296592" y="403596"/>
                  <a:chExt cx="5198478" cy="6136986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8645450E-FD8B-9CAE-B4AD-BFD215411B7D}"/>
                      </a:ext>
                    </a:extLst>
                  </p:cNvPr>
                  <p:cNvGrpSpPr/>
                  <p:nvPr/>
                </p:nvGrpSpPr>
                <p:grpSpPr>
                  <a:xfrm>
                    <a:off x="3296592" y="1342104"/>
                    <a:ext cx="5198478" cy="5198478"/>
                    <a:chOff x="3286760" y="781665"/>
                    <a:chExt cx="5198478" cy="5198478"/>
                  </a:xfrm>
                </p:grpSpPr>
                <p:pic>
                  <p:nvPicPr>
                    <p:cNvPr id="5" name="Picture 4">
                      <a:extLst>
                        <a:ext uri="{FF2B5EF4-FFF2-40B4-BE49-F238E27FC236}">
                          <a16:creationId xmlns:a16="http://schemas.microsoft.com/office/drawing/2014/main" id="{1D410643-1DFE-58E7-EBA7-EC6E344F482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286760" y="781665"/>
                      <a:ext cx="5198478" cy="5198478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6" name="Group 5">
                      <a:extLst>
                        <a:ext uri="{FF2B5EF4-FFF2-40B4-BE49-F238E27FC236}">
                          <a16:creationId xmlns:a16="http://schemas.microsoft.com/office/drawing/2014/main" id="{2EA2A2AD-224D-B72B-5662-1EA8345C27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353" y="2431489"/>
                      <a:ext cx="3765912" cy="727361"/>
                      <a:chOff x="4087811" y="-7116"/>
                      <a:chExt cx="3765912" cy="727361"/>
                    </a:xfrm>
                  </p:grpSpPr>
                  <p:sp>
                    <p:nvSpPr>
                      <p:cNvPr id="7" name="Left Brace 6">
                        <a:extLst>
                          <a:ext uri="{FF2B5EF4-FFF2-40B4-BE49-F238E27FC236}">
                            <a16:creationId xmlns:a16="http://schemas.microsoft.com/office/drawing/2014/main" id="{11702049-E758-7A3E-1E62-5CB075279CA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4314984" y="371154"/>
                        <a:ext cx="121918" cy="576264"/>
                      </a:xfrm>
                      <a:prstGeom prst="leftBrac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8" name="Left Brace 7">
                        <a:extLst>
                          <a:ext uri="{FF2B5EF4-FFF2-40B4-BE49-F238E27FC236}">
                            <a16:creationId xmlns:a16="http://schemas.microsoft.com/office/drawing/2014/main" id="{E2C99441-6DAC-8E65-B6F7-1F47A3C0403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330207" y="181681"/>
                        <a:ext cx="120546" cy="953839"/>
                      </a:xfrm>
                      <a:prstGeom prst="leftBrac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9DFC85B1-CDF9-E03B-003C-1B96BD21DE79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239674">
                        <a:off x="4135503" y="257361"/>
                        <a:ext cx="687388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600" dirty="0">
                            <a:solidFill>
                              <a:srgbClr val="FF0000"/>
                            </a:solidFill>
                          </a:rPr>
                          <a:t>SPP1 -&gt; Both </a:t>
                        </a:r>
                      </a:p>
                    </p:txBody>
                  </p:sp>
                  <p:sp>
                    <p:nvSpPr>
                      <p:cNvPr id="10" name="Left Brace 9">
                        <a:extLst>
                          <a:ext uri="{FF2B5EF4-FFF2-40B4-BE49-F238E27FC236}">
                            <a16:creationId xmlns:a16="http://schemas.microsoft.com/office/drawing/2014/main" id="{716B181D-AEB4-CB4D-CC37-9122682F0CA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4728546" y="578208"/>
                        <a:ext cx="120544" cy="163529"/>
                      </a:xfrm>
                      <a:prstGeom prst="leftBrac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11" name="Left Brace 10">
                        <a:extLst>
                          <a:ext uri="{FF2B5EF4-FFF2-40B4-BE49-F238E27FC236}">
                            <a16:creationId xmlns:a16="http://schemas.microsoft.com/office/drawing/2014/main" id="{21D87EE6-B35E-1B69-066F-9CF6F1754E9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310799" y="197908"/>
                        <a:ext cx="113577" cy="914418"/>
                      </a:xfrm>
                      <a:prstGeom prst="leftBrac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12" name="Left Brace 11">
                        <a:extLst>
                          <a:ext uri="{FF2B5EF4-FFF2-40B4-BE49-F238E27FC236}">
                            <a16:creationId xmlns:a16="http://schemas.microsoft.com/office/drawing/2014/main" id="{27162EF8-BD28-6530-FE90-B126825C85D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6988830" y="471088"/>
                        <a:ext cx="120547" cy="360246"/>
                      </a:xfrm>
                      <a:prstGeom prst="leftBrac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13" name="Left Brace 12">
                        <a:extLst>
                          <a:ext uri="{FF2B5EF4-FFF2-40B4-BE49-F238E27FC236}">
                            <a16:creationId xmlns:a16="http://schemas.microsoft.com/office/drawing/2014/main" id="{09A9B1D9-D17D-3AE1-4E03-582E68103B8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7287844" y="581664"/>
                        <a:ext cx="120548" cy="153874"/>
                      </a:xfrm>
                      <a:prstGeom prst="leftBrac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14" name="Left Brace 13">
                        <a:extLst>
                          <a:ext uri="{FF2B5EF4-FFF2-40B4-BE49-F238E27FC236}">
                            <a16:creationId xmlns:a16="http://schemas.microsoft.com/office/drawing/2014/main" id="{039B7588-A322-E33E-54A1-3050547BB80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7604485" y="470332"/>
                        <a:ext cx="120547" cy="376537"/>
                      </a:xfrm>
                      <a:prstGeom prst="leftBrac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F4832BF7-8BF6-BDAD-604F-20F42049B0EB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239674">
                        <a:off x="4541584" y="257361"/>
                        <a:ext cx="687388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600" dirty="0">
                            <a:solidFill>
                              <a:srgbClr val="FF0000"/>
                            </a:solidFill>
                          </a:rPr>
                          <a:t>SPP1 -&gt; CD4 </a:t>
                        </a:r>
                      </a:p>
                    </p:txBody>
                  </p:sp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DB05C713-AFDE-B8D0-2612-FF2BDBB70BFB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239674">
                        <a:off x="5123976" y="275032"/>
                        <a:ext cx="687388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600" dirty="0">
                            <a:solidFill>
                              <a:srgbClr val="FF0000"/>
                            </a:solidFill>
                          </a:rPr>
                          <a:t>Both -&gt; CD8 </a:t>
                        </a:r>
                      </a:p>
                    </p:txBody>
                  </p:sp>
                  <p:sp>
                    <p:nvSpPr>
                      <p:cNvPr id="17" name="TextBox 16">
                        <a:extLst>
                          <a:ext uri="{FF2B5EF4-FFF2-40B4-BE49-F238E27FC236}">
                            <a16:creationId xmlns:a16="http://schemas.microsoft.com/office/drawing/2014/main" id="{30533389-A0CD-958F-1F6A-860A6A9A8E84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239674">
                        <a:off x="6121131" y="257362"/>
                        <a:ext cx="687388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600" dirty="0">
                            <a:solidFill>
                              <a:srgbClr val="FF0000"/>
                            </a:solidFill>
                          </a:rPr>
                          <a:t>Both -&gt; Both </a:t>
                        </a:r>
                      </a:p>
                    </p:txBody>
                  </p:sp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E2F6F05B-ED7F-F4C4-262A-4490B6DD2568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239674">
                        <a:off x="6781234" y="257361"/>
                        <a:ext cx="687388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600" dirty="0">
                            <a:solidFill>
                              <a:srgbClr val="FF0000"/>
                            </a:solidFill>
                          </a:rPr>
                          <a:t>Both -&gt; CD4 </a:t>
                        </a:r>
                      </a:p>
                    </p:txBody>
                  </p:sp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F781910D-CC15-BF17-37F1-BDA11479A55F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239674">
                        <a:off x="7107080" y="244245"/>
                        <a:ext cx="687388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600" dirty="0">
                            <a:solidFill>
                              <a:srgbClr val="FF0000"/>
                            </a:solidFill>
                          </a:rPr>
                          <a:t>C1QC -&gt; Both </a:t>
                        </a:r>
                      </a:p>
                    </p:txBody>
                  </p:sp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7CB03EFA-4725-3524-CFC7-8A2C59689F13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239674">
                        <a:off x="7417696" y="257362"/>
                        <a:ext cx="687388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600" dirty="0">
                            <a:solidFill>
                              <a:srgbClr val="FF0000"/>
                            </a:solidFill>
                          </a:rPr>
                          <a:t>C1QC -&gt; CD4 </a:t>
                        </a:r>
                      </a:p>
                    </p:txBody>
                  </p:sp>
                </p:grpSp>
              </p:grpSp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852E9B34-319F-15D0-5D70-D2B6EEA84C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30270" y="403596"/>
                    <a:ext cx="2316839" cy="74222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1C945199-2626-7BC6-F428-943AF795FDAF}"/>
                    </a:ext>
                  </a:extLst>
                </p:cNvPr>
                <p:cNvSpPr/>
                <p:nvPr/>
              </p:nvSpPr>
              <p:spPr>
                <a:xfrm>
                  <a:off x="4178019" y="6126711"/>
                  <a:ext cx="3943468" cy="365529"/>
                </a:xfrm>
                <a:prstGeom prst="rect">
                  <a:avLst/>
                </a:prstGeom>
                <a:solidFill>
                  <a:srgbClr val="B4E5A2">
                    <a:alpha val="50196"/>
                  </a:srgb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E5E1814-4F17-D925-AEB7-9F729306F6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2499" y="3702988"/>
                <a:ext cx="0" cy="2398092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56E36D5-2539-919B-BC69-26348E92AC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5176" y="3702988"/>
                <a:ext cx="0" cy="2398092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279DFF0-CD29-34EF-7A59-103D30795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9524" y="3702988"/>
                <a:ext cx="0" cy="2398092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49717C6-C87B-8484-56CD-8F1E97A99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95585" y="3702988"/>
                <a:ext cx="0" cy="2398092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B3CF75F-057D-37E0-41E8-BAD5DF9F0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3410" y="3702988"/>
                <a:ext cx="0" cy="2398092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8B59073-1D94-F4C0-67AE-00A802727C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6571" y="3702988"/>
                <a:ext cx="0" cy="2398092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47E0D05-97C1-7F7E-BFC2-C28C7B47DF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5640" y="4194739"/>
                <a:ext cx="4905847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9BA7A02-B70E-31B8-9E0A-E2ACF3B8D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8950" y="4905773"/>
                <a:ext cx="5092535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8E38201-26EA-6FCA-C7C7-AE44681351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5640" y="5378379"/>
                <a:ext cx="4905845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AFEE3D1-D4BC-B735-E873-5BD2E26176A1}"/>
                </a:ext>
              </a:extLst>
            </p:cNvPr>
            <p:cNvSpPr txBox="1"/>
            <p:nvPr/>
          </p:nvSpPr>
          <p:spPr>
            <a:xfrm rot="16200000">
              <a:off x="3080059" y="4379158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CD4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8BAF8A-E378-8681-354D-2C8223084DAB}"/>
                </a:ext>
              </a:extLst>
            </p:cNvPr>
            <p:cNvSpPr txBox="1"/>
            <p:nvPr/>
          </p:nvSpPr>
          <p:spPr>
            <a:xfrm rot="16200000">
              <a:off x="3080059" y="3825655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CD8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7E524C8-C721-3771-B1C7-599EC43AA9D7}"/>
                </a:ext>
              </a:extLst>
            </p:cNvPr>
            <p:cNvSpPr txBox="1"/>
            <p:nvPr/>
          </p:nvSpPr>
          <p:spPr>
            <a:xfrm rot="16200000">
              <a:off x="3080059" y="5020478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CD8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AC37BE2-95FB-0DAE-F2DF-96DD715C5F54}"/>
                </a:ext>
              </a:extLst>
            </p:cNvPr>
            <p:cNvSpPr txBox="1"/>
            <p:nvPr/>
          </p:nvSpPr>
          <p:spPr>
            <a:xfrm rot="16200000">
              <a:off x="3080059" y="5627206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CD4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E551E66-C412-F5D7-73D3-4E19F93C0E0F}"/>
                </a:ext>
              </a:extLst>
            </p:cNvPr>
            <p:cNvSpPr txBox="1"/>
            <p:nvPr/>
          </p:nvSpPr>
          <p:spPr>
            <a:xfrm rot="16200000">
              <a:off x="2947092" y="4090838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SPP1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BC0F07A-9AE9-AB11-B9FF-50BB71AF97BE}"/>
                </a:ext>
              </a:extLst>
            </p:cNvPr>
            <p:cNvSpPr txBox="1"/>
            <p:nvPr/>
          </p:nvSpPr>
          <p:spPr>
            <a:xfrm rot="16200000">
              <a:off x="2922915" y="5308392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C1QC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8C35861-DE27-C2A0-A65A-0539A02A22BC}"/>
                </a:ext>
              </a:extLst>
            </p:cNvPr>
            <p:cNvCxnSpPr>
              <a:cxnSpLocks/>
            </p:cNvCxnSpPr>
            <p:nvPr/>
          </p:nvCxnSpPr>
          <p:spPr>
            <a:xfrm>
              <a:off x="3333113" y="3728489"/>
              <a:ext cx="9982" cy="2372591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65187BB-F196-5EF9-66B8-8F55DD36ECA9}"/>
                </a:ext>
              </a:extLst>
            </p:cNvPr>
            <p:cNvCxnSpPr>
              <a:cxnSpLocks/>
            </p:cNvCxnSpPr>
            <p:nvPr/>
          </p:nvCxnSpPr>
          <p:spPr>
            <a:xfrm>
              <a:off x="3210649" y="3715738"/>
              <a:ext cx="9982" cy="2372591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602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3BAF4D18-2BCF-80F1-C0C7-12458702F8F3}"/>
              </a:ext>
            </a:extLst>
          </p:cNvPr>
          <p:cNvGrpSpPr/>
          <p:nvPr/>
        </p:nvGrpSpPr>
        <p:grpSpPr>
          <a:xfrm>
            <a:off x="3312264" y="-967612"/>
            <a:ext cx="5874215" cy="7404802"/>
            <a:chOff x="3375764" y="-2542412"/>
            <a:chExt cx="5874215" cy="740480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A265B18-2CE0-B6B4-6CAC-8C09E952CDBE}"/>
                </a:ext>
              </a:extLst>
            </p:cNvPr>
            <p:cNvGrpSpPr/>
            <p:nvPr/>
          </p:nvGrpSpPr>
          <p:grpSpPr>
            <a:xfrm>
              <a:off x="3375764" y="-2542412"/>
              <a:ext cx="5874215" cy="7404802"/>
              <a:chOff x="3406244" y="89028"/>
              <a:chExt cx="5874215" cy="740480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DF8E52A4-6A56-619C-F3DE-DFE7E7561D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6244" y="1070937"/>
                <a:ext cx="5138315" cy="6422893"/>
              </a:xfrm>
              <a:prstGeom prst="rect">
                <a:avLst/>
              </a:prstGeom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D972749-D29F-3F71-BCC8-81FC13924744}"/>
                  </a:ext>
                </a:extLst>
              </p:cNvPr>
              <p:cNvGrpSpPr/>
              <p:nvPr/>
            </p:nvGrpSpPr>
            <p:grpSpPr>
              <a:xfrm>
                <a:off x="8448039" y="1323242"/>
                <a:ext cx="832420" cy="2659381"/>
                <a:chOff x="8172388" y="3557498"/>
                <a:chExt cx="742244" cy="2023157"/>
              </a:xfrm>
            </p:grpSpPr>
            <p:sp>
              <p:nvSpPr>
                <p:cNvPr id="14" name="Left Brace 13">
                  <a:extLst>
                    <a:ext uri="{FF2B5EF4-FFF2-40B4-BE49-F238E27FC236}">
                      <a16:creationId xmlns:a16="http://schemas.microsoft.com/office/drawing/2014/main" id="{A601BF52-B6B6-A49E-F78A-3AB5EC87EFA9}"/>
                    </a:ext>
                  </a:extLst>
                </p:cNvPr>
                <p:cNvSpPr/>
                <p:nvPr/>
              </p:nvSpPr>
              <p:spPr>
                <a:xfrm rot="10800000">
                  <a:off x="8183093" y="3557498"/>
                  <a:ext cx="108254" cy="205453"/>
                </a:xfrm>
                <a:prstGeom prst="leftBrac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978D923-7FA9-5060-5DB6-4DFD1940C86A}"/>
                    </a:ext>
                  </a:extLst>
                </p:cNvPr>
                <p:cNvSpPr txBox="1"/>
                <p:nvPr/>
              </p:nvSpPr>
              <p:spPr>
                <a:xfrm>
                  <a:off x="8268823" y="5365507"/>
                  <a:ext cx="643096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dirty="0">
                      <a:solidFill>
                        <a:srgbClr val="FF0000"/>
                      </a:solidFill>
                    </a:rPr>
                    <a:t>SPP1 -&gt; CD8 </a:t>
                  </a:r>
                </a:p>
              </p:txBody>
            </p:sp>
            <p:sp>
              <p:nvSpPr>
                <p:cNvPr id="16" name="Left Brace 15">
                  <a:extLst>
                    <a:ext uri="{FF2B5EF4-FFF2-40B4-BE49-F238E27FC236}">
                      <a16:creationId xmlns:a16="http://schemas.microsoft.com/office/drawing/2014/main" id="{96812F16-6BD7-80E4-7D95-59F86BA60D42}"/>
                    </a:ext>
                  </a:extLst>
                </p:cNvPr>
                <p:cNvSpPr/>
                <p:nvPr/>
              </p:nvSpPr>
              <p:spPr>
                <a:xfrm rot="10800000">
                  <a:off x="8183093" y="3768922"/>
                  <a:ext cx="100786" cy="604165"/>
                </a:xfrm>
                <a:prstGeom prst="leftBrac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Left Brace 16">
                  <a:extLst>
                    <a:ext uri="{FF2B5EF4-FFF2-40B4-BE49-F238E27FC236}">
                      <a16:creationId xmlns:a16="http://schemas.microsoft.com/office/drawing/2014/main" id="{146249DD-8F7F-026F-5953-356CF52E00FC}"/>
                    </a:ext>
                  </a:extLst>
                </p:cNvPr>
                <p:cNvSpPr/>
                <p:nvPr/>
              </p:nvSpPr>
              <p:spPr>
                <a:xfrm rot="10800000">
                  <a:off x="8181222" y="4370481"/>
                  <a:ext cx="111998" cy="539668"/>
                </a:xfrm>
                <a:prstGeom prst="leftBrac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18" name="Left Brace 17">
                  <a:extLst>
                    <a:ext uri="{FF2B5EF4-FFF2-40B4-BE49-F238E27FC236}">
                      <a16:creationId xmlns:a16="http://schemas.microsoft.com/office/drawing/2014/main" id="{C00C9B5C-4751-0A6A-D81E-77ECF83B021A}"/>
                    </a:ext>
                  </a:extLst>
                </p:cNvPr>
                <p:cNvSpPr/>
                <p:nvPr/>
              </p:nvSpPr>
              <p:spPr>
                <a:xfrm rot="10800000">
                  <a:off x="8191707" y="4912753"/>
                  <a:ext cx="102785" cy="373621"/>
                </a:xfrm>
                <a:prstGeom prst="leftBrac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Left Brace 18">
                  <a:extLst>
                    <a:ext uri="{FF2B5EF4-FFF2-40B4-BE49-F238E27FC236}">
                      <a16:creationId xmlns:a16="http://schemas.microsoft.com/office/drawing/2014/main" id="{01975058-CB8A-9B49-F1E7-021B3FF5FEAE}"/>
                    </a:ext>
                  </a:extLst>
                </p:cNvPr>
                <p:cNvSpPr/>
                <p:nvPr/>
              </p:nvSpPr>
              <p:spPr>
                <a:xfrm rot="10800000">
                  <a:off x="8172388" y="5286374"/>
                  <a:ext cx="118957" cy="294281"/>
                </a:xfrm>
                <a:prstGeom prst="leftBrac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0DBBFF5-3CD2-D91D-DE68-61845A101DAC}"/>
                    </a:ext>
                  </a:extLst>
                </p:cNvPr>
                <p:cNvSpPr txBox="1"/>
                <p:nvPr/>
              </p:nvSpPr>
              <p:spPr>
                <a:xfrm>
                  <a:off x="8268823" y="5005929"/>
                  <a:ext cx="643096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dirty="0">
                      <a:solidFill>
                        <a:srgbClr val="FF0000"/>
                      </a:solidFill>
                    </a:rPr>
                    <a:t>SPP1 -&gt; CD4 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F8E3446-9FF1-5AAD-187F-062C405CEAE7}"/>
                    </a:ext>
                  </a:extLst>
                </p:cNvPr>
                <p:cNvSpPr txBox="1"/>
                <p:nvPr/>
              </p:nvSpPr>
              <p:spPr>
                <a:xfrm>
                  <a:off x="8255816" y="4546866"/>
                  <a:ext cx="643096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dirty="0">
                      <a:solidFill>
                        <a:srgbClr val="FF0000"/>
                      </a:solidFill>
                    </a:rPr>
                    <a:t>Both -&gt; CD8 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6CAE1E9-0872-08AA-CF7A-DB309C9CE559}"/>
                    </a:ext>
                  </a:extLst>
                </p:cNvPr>
                <p:cNvSpPr txBox="1"/>
                <p:nvPr/>
              </p:nvSpPr>
              <p:spPr>
                <a:xfrm>
                  <a:off x="8271536" y="3983867"/>
                  <a:ext cx="643096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dirty="0">
                      <a:solidFill>
                        <a:srgbClr val="FF0000"/>
                      </a:solidFill>
                    </a:rPr>
                    <a:t>Both -&gt; CD4 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FD78993-0960-933D-1115-847CB4D3E85E}"/>
                    </a:ext>
                  </a:extLst>
                </p:cNvPr>
                <p:cNvSpPr txBox="1"/>
                <p:nvPr/>
              </p:nvSpPr>
              <p:spPr>
                <a:xfrm>
                  <a:off x="8271536" y="3584255"/>
                  <a:ext cx="643096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dirty="0">
                      <a:solidFill>
                        <a:srgbClr val="FF0000"/>
                      </a:solidFill>
                    </a:rPr>
                    <a:t>C1QC -&gt; CD4 </a:t>
                  </a:r>
                </a:p>
              </p:txBody>
            </p:sp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EC6D703-796C-D104-535A-61D1F4586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05824" y="89028"/>
                <a:ext cx="1039802" cy="894427"/>
              </a:xfrm>
              <a:prstGeom prst="rect">
                <a:avLst/>
              </a:prstGeom>
            </p:spPr>
          </p:pic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969980-9ADA-345A-2765-7EA26B62A12E}"/>
                  </a:ext>
                </a:extLst>
              </p:cNvPr>
              <p:cNvSpPr/>
              <p:nvPr/>
            </p:nvSpPr>
            <p:spPr>
              <a:xfrm>
                <a:off x="8176939" y="1323242"/>
                <a:ext cx="314433" cy="2659381"/>
              </a:xfrm>
              <a:prstGeom prst="rect">
                <a:avLst/>
              </a:prstGeom>
              <a:solidFill>
                <a:srgbClr val="B4E5A2">
                  <a:alpha val="50196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FE53DF2-463D-32E0-E5C8-E75D41AED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2810" y="3582421"/>
                <a:ext cx="5015229" cy="13378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FB66248-B5AB-91A1-3416-8C4826F1C9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2810" y="3114597"/>
                <a:ext cx="5036895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01B9AA2-D5AB-1510-28D5-F2A160CE6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2810" y="2376501"/>
                <a:ext cx="5025136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637E816-5191-0212-E0AF-17F7C3CAC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4569" y="1593305"/>
                <a:ext cx="5025136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996DA8F-B07D-136A-4D50-764BF0F56264}"/>
                </a:ext>
              </a:extLst>
            </p:cNvPr>
            <p:cNvSpPr/>
            <p:nvPr/>
          </p:nvSpPr>
          <p:spPr>
            <a:xfrm>
              <a:off x="6357620" y="2327910"/>
              <a:ext cx="208280" cy="792394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alpha val="30000"/>
                  </a:srgbClr>
                </a:gs>
                <a:gs pos="100000">
                  <a:srgbClr val="00B0F0">
                    <a:alpha val="5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E1D14E5-A9ED-2E34-9B4E-3578C2E91DD3}"/>
                </a:ext>
              </a:extLst>
            </p:cNvPr>
            <p:cNvSpPr/>
            <p:nvPr/>
          </p:nvSpPr>
          <p:spPr>
            <a:xfrm>
              <a:off x="8028305" y="2415540"/>
              <a:ext cx="208280" cy="704764"/>
            </a:xfrm>
            <a:prstGeom prst="rect">
              <a:avLst/>
            </a:prstGeom>
            <a:solidFill>
              <a:srgbClr val="00B0F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6519A37-66EB-C21C-ED1B-89FB9ABB6401}"/>
                </a:ext>
              </a:extLst>
            </p:cNvPr>
            <p:cNvSpPr/>
            <p:nvPr/>
          </p:nvSpPr>
          <p:spPr>
            <a:xfrm>
              <a:off x="6986270" y="2415540"/>
              <a:ext cx="208280" cy="704764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4C300E8-9A5B-6F40-CFB6-5528AEFC4373}"/>
                </a:ext>
              </a:extLst>
            </p:cNvPr>
            <p:cNvSpPr/>
            <p:nvPr/>
          </p:nvSpPr>
          <p:spPr>
            <a:xfrm>
              <a:off x="5936941" y="3941447"/>
              <a:ext cx="263200" cy="894183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B1119B6-CB09-CF0B-1D24-B7C50D82867C}"/>
                </a:ext>
              </a:extLst>
            </p:cNvPr>
            <p:cNvSpPr/>
            <p:nvPr/>
          </p:nvSpPr>
          <p:spPr>
            <a:xfrm>
              <a:off x="3375764" y="3941447"/>
              <a:ext cx="263201" cy="894183"/>
            </a:xfrm>
            <a:prstGeom prst="rect">
              <a:avLst/>
            </a:prstGeom>
            <a:solidFill>
              <a:srgbClr val="00B0F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8052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C3A56C33-7595-4764-485A-3FAA825B5E96}"/>
              </a:ext>
            </a:extLst>
          </p:cNvPr>
          <p:cNvGrpSpPr/>
          <p:nvPr/>
        </p:nvGrpSpPr>
        <p:grpSpPr>
          <a:xfrm>
            <a:off x="2255520" y="255270"/>
            <a:ext cx="7254239" cy="6404038"/>
            <a:chOff x="2255520" y="255270"/>
            <a:chExt cx="7254239" cy="640403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B12F776-E962-C045-BD13-DC5E88BB5988}"/>
                </a:ext>
              </a:extLst>
            </p:cNvPr>
            <p:cNvGrpSpPr/>
            <p:nvPr/>
          </p:nvGrpSpPr>
          <p:grpSpPr>
            <a:xfrm>
              <a:off x="2255520" y="255270"/>
              <a:ext cx="7254239" cy="6404038"/>
              <a:chOff x="2255520" y="255270"/>
              <a:chExt cx="7254239" cy="6404038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702AE1D-7953-4BD4-8122-9068BCDB3AE5}"/>
                  </a:ext>
                </a:extLst>
              </p:cNvPr>
              <p:cNvGrpSpPr/>
              <p:nvPr/>
            </p:nvGrpSpPr>
            <p:grpSpPr>
              <a:xfrm>
                <a:off x="2457790" y="255270"/>
                <a:ext cx="7051969" cy="6404038"/>
                <a:chOff x="2457790" y="255270"/>
                <a:chExt cx="7051969" cy="6404038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E1FF5228-8385-AD9A-2974-46F0DE58418B}"/>
                    </a:ext>
                  </a:extLst>
                </p:cNvPr>
                <p:cNvGrpSpPr/>
                <p:nvPr/>
              </p:nvGrpSpPr>
              <p:grpSpPr>
                <a:xfrm>
                  <a:off x="2457790" y="1370331"/>
                  <a:ext cx="7051969" cy="5288977"/>
                  <a:chOff x="2508590" y="669291"/>
                  <a:chExt cx="7051969" cy="5288977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EE6D000A-D39A-41E7-8FFF-200A7AF48C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08590" y="669291"/>
                    <a:ext cx="7051969" cy="5288977"/>
                  </a:xfrm>
                  <a:prstGeom prst="rect">
                    <a:avLst/>
                  </a:prstGeom>
                </p:spPr>
              </p:pic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1C875B18-8C5A-9C7A-ED51-276B354EBD9C}"/>
                      </a:ext>
                    </a:extLst>
                  </p:cNvPr>
                  <p:cNvGrpSpPr/>
                  <p:nvPr/>
                </p:nvGrpSpPr>
                <p:grpSpPr>
                  <a:xfrm>
                    <a:off x="3922497" y="3313779"/>
                    <a:ext cx="5080586" cy="307499"/>
                    <a:chOff x="3818325" y="396959"/>
                    <a:chExt cx="5080586" cy="307499"/>
                  </a:xfrm>
                </p:grpSpPr>
                <p:sp>
                  <p:nvSpPr>
                    <p:cNvPr id="7" name="Left Brace 6">
                      <a:extLst>
                        <a:ext uri="{FF2B5EF4-FFF2-40B4-BE49-F238E27FC236}">
                          <a16:creationId xmlns:a16="http://schemas.microsoft.com/office/drawing/2014/main" id="{D138A179-6EED-DE41-A018-45EB6271FBF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958082" y="-552251"/>
                      <a:ext cx="116952" cy="2396466"/>
                    </a:xfrm>
                    <a:prstGeom prst="leftBrac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8" name="Left Brace 7">
                      <a:extLst>
                        <a:ext uri="{FF2B5EF4-FFF2-40B4-BE49-F238E27FC236}">
                          <a16:creationId xmlns:a16="http://schemas.microsoft.com/office/drawing/2014/main" id="{D51430C0-8912-C3DB-0200-AB256060C3F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437307" y="234865"/>
                      <a:ext cx="120546" cy="802663"/>
                    </a:xfrm>
                    <a:prstGeom prst="leftBrac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6FA45C66-C35A-30C0-73C2-AACFF1756D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32729" y="402840"/>
                      <a:ext cx="68738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600" dirty="0">
                          <a:solidFill>
                            <a:srgbClr val="FF0000"/>
                          </a:solidFill>
                        </a:rPr>
                        <a:t>SPP1 -&gt; Fibro </a:t>
                      </a:r>
                    </a:p>
                  </p:txBody>
                </p:sp>
                <p:sp>
                  <p:nvSpPr>
                    <p:cNvPr id="10" name="Left Brace 9">
                      <a:extLst>
                        <a:ext uri="{FF2B5EF4-FFF2-40B4-BE49-F238E27FC236}">
                          <a16:creationId xmlns:a16="http://schemas.microsoft.com/office/drawing/2014/main" id="{7020A5B7-3E96-6F3F-AF6C-AEF0BE08132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7097044" y="-279283"/>
                      <a:ext cx="116951" cy="1834560"/>
                    </a:xfrm>
                    <a:prstGeom prst="leftBrac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1D068603-086A-126B-3EBA-A16348E646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1385" y="396959"/>
                      <a:ext cx="68738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600" dirty="0">
                          <a:solidFill>
                            <a:srgbClr val="FF0000"/>
                          </a:solidFill>
                        </a:rPr>
                        <a:t>Both -&gt; Fibro </a:t>
                      </a:r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00A0DB7-BF0D-9C34-8B77-46AC1DBE86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03534" y="396959"/>
                      <a:ext cx="68738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600" dirty="0">
                          <a:solidFill>
                            <a:srgbClr val="FF0000"/>
                          </a:solidFill>
                        </a:rPr>
                        <a:t>C1QC -&gt; Fibro </a:t>
                      </a:r>
                    </a:p>
                  </p:txBody>
                </p:sp>
              </p:grp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10C8EFF-C014-8EAE-50E3-468E9E84CA04}"/>
                      </a:ext>
                    </a:extLst>
                  </p:cNvPr>
                  <p:cNvSpPr/>
                  <p:nvPr/>
                </p:nvSpPr>
                <p:spPr>
                  <a:xfrm>
                    <a:off x="3501390" y="5318991"/>
                    <a:ext cx="5436869" cy="582699"/>
                  </a:xfrm>
                  <a:prstGeom prst="rect">
                    <a:avLst/>
                  </a:prstGeom>
                  <a:solidFill>
                    <a:srgbClr val="B4E5A2">
                      <a:alpha val="50196"/>
                    </a:srgb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EE59C78F-A4CA-47F9-5EA1-B01A240B2D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18000" y="255270"/>
                  <a:ext cx="3274145" cy="1048707"/>
                </a:xfrm>
                <a:prstGeom prst="rect">
                  <a:avLst/>
                </a:prstGeom>
              </p:spPr>
            </p:pic>
          </p:grp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CFEA44A-46E0-91E7-61C9-D2B7C7623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5520" y="5147310"/>
                <a:ext cx="6688774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061E530-4428-F58F-B933-60EB5169A28A}"/>
                  </a:ext>
                </a:extLst>
              </p:cNvPr>
              <p:cNvCxnSpPr>
                <a:cxnSpLocks/>
                <a:stCxn id="7" idx="0"/>
              </p:cNvCxnSpPr>
              <p:nvPr/>
            </p:nvCxnSpPr>
            <p:spPr>
              <a:xfrm>
                <a:off x="6268163" y="4322318"/>
                <a:ext cx="0" cy="1665097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3A6B01B-84ED-DA0B-37F2-2D702E7D0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1329" y="4314330"/>
                <a:ext cx="0" cy="1665097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C875937-E1CA-DB0A-217F-6121EF19C2F9}"/>
                </a:ext>
              </a:extLst>
            </p:cNvPr>
            <p:cNvCxnSpPr>
              <a:cxnSpLocks/>
            </p:cNvCxnSpPr>
            <p:nvPr/>
          </p:nvCxnSpPr>
          <p:spPr>
            <a:xfrm>
              <a:off x="2483276" y="4322318"/>
              <a:ext cx="0" cy="1665097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4FB7B06-9490-9869-CC5E-4493EAB862AA}"/>
                </a:ext>
              </a:extLst>
            </p:cNvPr>
            <p:cNvSpPr txBox="1"/>
            <p:nvPr/>
          </p:nvSpPr>
          <p:spPr>
            <a:xfrm rot="16200000">
              <a:off x="2183905" y="4593663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SPP1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77E2D4D-A739-B91C-E2A6-0B4DBB59B8DB}"/>
                </a:ext>
              </a:extLst>
            </p:cNvPr>
            <p:cNvSpPr txBox="1"/>
            <p:nvPr/>
          </p:nvSpPr>
          <p:spPr>
            <a:xfrm rot="16200000">
              <a:off x="2171162" y="5516292"/>
              <a:ext cx="41407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C1QC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0539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EE71BF92-4C29-5C67-9D7F-6FADBD3B0577}"/>
              </a:ext>
            </a:extLst>
          </p:cNvPr>
          <p:cNvGrpSpPr/>
          <p:nvPr/>
        </p:nvGrpSpPr>
        <p:grpSpPr>
          <a:xfrm>
            <a:off x="2884872" y="191908"/>
            <a:ext cx="6970394" cy="5539391"/>
            <a:chOff x="2884872" y="191908"/>
            <a:chExt cx="6970394" cy="553939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EB5AA33-1A2A-56B3-54F2-D4D9543BB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872" y="1076958"/>
              <a:ext cx="6205788" cy="465434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41317D-C04C-5BCB-8113-8F874C434F9A}"/>
                </a:ext>
              </a:extLst>
            </p:cNvPr>
            <p:cNvSpPr/>
            <p:nvPr/>
          </p:nvSpPr>
          <p:spPr>
            <a:xfrm rot="5400000">
              <a:off x="8075355" y="2036512"/>
              <a:ext cx="1574721" cy="288236"/>
            </a:xfrm>
            <a:prstGeom prst="rect">
              <a:avLst/>
            </a:prstGeom>
            <a:solidFill>
              <a:srgbClr val="B4E5A2">
                <a:alpha val="50196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153CF3-5803-B272-FC41-19554D1FC992}"/>
                </a:ext>
              </a:extLst>
            </p:cNvPr>
            <p:cNvGrpSpPr/>
            <p:nvPr/>
          </p:nvGrpSpPr>
          <p:grpSpPr>
            <a:xfrm>
              <a:off x="9067800" y="1393270"/>
              <a:ext cx="787466" cy="1574721"/>
              <a:chOff x="9452566" y="3676415"/>
              <a:chExt cx="787466" cy="1769344"/>
            </a:xfrm>
          </p:grpSpPr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E75615B3-39DA-B11F-672F-24D0D3BEE5A5}"/>
                  </a:ext>
                </a:extLst>
              </p:cNvPr>
              <p:cNvSpPr/>
              <p:nvPr/>
            </p:nvSpPr>
            <p:spPr>
              <a:xfrm rot="10800000">
                <a:off x="9452566" y="3676415"/>
                <a:ext cx="107757" cy="242632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FD1F9A-1F31-300E-F38B-DC6E7543A5E6}"/>
                  </a:ext>
                </a:extLst>
              </p:cNvPr>
              <p:cNvSpPr txBox="1"/>
              <p:nvPr/>
            </p:nvSpPr>
            <p:spPr>
              <a:xfrm>
                <a:off x="9596936" y="4826599"/>
                <a:ext cx="64309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00" dirty="0">
                    <a:solidFill>
                      <a:srgbClr val="FF0000"/>
                    </a:solidFill>
                  </a:rPr>
                  <a:t>SPP1 -&gt; Fibro </a:t>
                </a:r>
              </a:p>
            </p:txBody>
          </p:sp>
          <p:sp>
            <p:nvSpPr>
              <p:cNvPr id="11" name="Left Brace 10">
                <a:extLst>
                  <a:ext uri="{FF2B5EF4-FFF2-40B4-BE49-F238E27FC236}">
                    <a16:creationId xmlns:a16="http://schemas.microsoft.com/office/drawing/2014/main" id="{E52C5731-2BCF-1EBC-F477-9ADC16FEDA30}"/>
                  </a:ext>
                </a:extLst>
              </p:cNvPr>
              <p:cNvSpPr/>
              <p:nvPr/>
            </p:nvSpPr>
            <p:spPr>
              <a:xfrm rot="10800000">
                <a:off x="9452566" y="3919049"/>
                <a:ext cx="114264" cy="426721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" name="Left Brace 11">
                <a:extLst>
                  <a:ext uri="{FF2B5EF4-FFF2-40B4-BE49-F238E27FC236}">
                    <a16:creationId xmlns:a16="http://schemas.microsoft.com/office/drawing/2014/main" id="{8F8E1DEB-578E-68C3-06AB-7395B09FF819}"/>
                  </a:ext>
                </a:extLst>
              </p:cNvPr>
              <p:cNvSpPr/>
              <p:nvPr/>
            </p:nvSpPr>
            <p:spPr>
              <a:xfrm rot="10800000">
                <a:off x="9460036" y="4392104"/>
                <a:ext cx="118956" cy="1053655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F3BCFD-23EC-50CC-1157-A881F9D25B97}"/>
                  </a:ext>
                </a:extLst>
              </p:cNvPr>
              <p:cNvSpPr txBox="1"/>
              <p:nvPr/>
            </p:nvSpPr>
            <p:spPr>
              <a:xfrm>
                <a:off x="9578992" y="4040076"/>
                <a:ext cx="64309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00" dirty="0">
                    <a:solidFill>
                      <a:srgbClr val="FF0000"/>
                    </a:solidFill>
                  </a:rPr>
                  <a:t>Both -&gt; Fibro 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C2A1D0-A95F-11B4-ED16-555AFDC9DB02}"/>
                  </a:ext>
                </a:extLst>
              </p:cNvPr>
              <p:cNvSpPr txBox="1"/>
              <p:nvPr/>
            </p:nvSpPr>
            <p:spPr>
              <a:xfrm>
                <a:off x="9566830" y="3705397"/>
                <a:ext cx="67320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00" dirty="0">
                    <a:solidFill>
                      <a:srgbClr val="FF0000"/>
                    </a:solidFill>
                  </a:rPr>
                  <a:t>C1QC -&gt; Fibro </a:t>
                </a: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CE7B04C-D3D9-84D2-C0C2-3D75AC403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6281" y="191908"/>
              <a:ext cx="1523341" cy="885051"/>
            </a:xfrm>
            <a:prstGeom prst="rect">
              <a:avLst/>
            </a:prstGeom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8C366ED-A899-7EC7-E8D6-7697A29DF916}"/>
                </a:ext>
              </a:extLst>
            </p:cNvPr>
            <p:cNvCxnSpPr>
              <a:cxnSpLocks/>
            </p:cNvCxnSpPr>
            <p:nvPr/>
          </p:nvCxnSpPr>
          <p:spPr>
            <a:xfrm>
              <a:off x="2913447" y="1609214"/>
              <a:ext cx="6093387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6BCAEB-B15A-BB0D-DB91-A9500B39D8DA}"/>
                </a:ext>
              </a:extLst>
            </p:cNvPr>
            <p:cNvCxnSpPr>
              <a:cxnSpLocks/>
            </p:cNvCxnSpPr>
            <p:nvPr/>
          </p:nvCxnSpPr>
          <p:spPr>
            <a:xfrm>
              <a:off x="2913447" y="1988999"/>
              <a:ext cx="6093387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4864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34AB2E-B6D6-F08F-F02B-9B04D65C1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880" y="0"/>
            <a:ext cx="5881754" cy="4476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2C8A11-EDA2-9D8B-2BB2-950FE247DF4A}"/>
              </a:ext>
            </a:extLst>
          </p:cNvPr>
          <p:cNvSpPr txBox="1"/>
          <p:nvPr/>
        </p:nvSpPr>
        <p:spPr>
          <a:xfrm>
            <a:off x="2477005" y="4332020"/>
            <a:ext cx="68815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Figure 5: </a:t>
            </a:r>
            <a:r>
              <a:rPr lang="en-GB" sz="1400" b="1" dirty="0" err="1"/>
              <a:t>Cellchat</a:t>
            </a:r>
            <a:r>
              <a:rPr lang="en-GB" sz="1400" b="1" dirty="0"/>
              <a:t> and </a:t>
            </a:r>
            <a:r>
              <a:rPr lang="en-GB" sz="1400" b="1" dirty="0" err="1"/>
              <a:t>Nichenet</a:t>
            </a:r>
            <a:r>
              <a:rPr lang="en-GB" sz="1400" b="1" dirty="0"/>
              <a:t> analysis shows cell type specific Ligand-Receptor interactions and Gene expression relationships.</a:t>
            </a:r>
            <a:endParaRPr lang="en-GB" sz="1400" b="1" i="1" dirty="0"/>
          </a:p>
          <a:p>
            <a:r>
              <a:rPr lang="en-GB" sz="1400" i="1" dirty="0"/>
              <a:t>Pathway level comparison of Ligand-Receptor interaction communication probability (CP) (A) and gene regulatory potential (RP) of prioritised ligands (B) between SPP1+/C1QC+ macrophages and CD4+/CD8+ T cell subtypes in N vs T samples. Interaction labelled “SPP1” when (SPP1-CP)µ &gt;  2(C1QC-CP)µ and vice versa. All combinations in-between classified as “both”. This is repeated for CD4/CD8 classifications. In (B) “both” labels not present between CD4 and CD8 due to distinct gene regulations in each.</a:t>
            </a:r>
          </a:p>
        </p:txBody>
      </p:sp>
    </p:spTree>
    <p:extLst>
      <p:ext uri="{BB962C8B-B14F-4D97-AF65-F5344CB8AC3E}">
        <p14:creationId xmlns:p14="http://schemas.microsoft.com/office/powerpoint/2010/main" val="2527249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895D2-01A2-6EE9-56D9-2E421A114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627" y="668593"/>
            <a:ext cx="7060410" cy="529530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67B400D-E9AE-83F0-C506-9C64BFE2325D}"/>
              </a:ext>
            </a:extLst>
          </p:cNvPr>
          <p:cNvGrpSpPr/>
          <p:nvPr/>
        </p:nvGrpSpPr>
        <p:grpSpPr>
          <a:xfrm>
            <a:off x="3818325" y="-11680"/>
            <a:ext cx="5080586" cy="716138"/>
            <a:chOff x="3818325" y="-11680"/>
            <a:chExt cx="5080586" cy="716138"/>
          </a:xfrm>
        </p:grpSpPr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2D387813-6332-18FB-2C70-EE73D70D1C7E}"/>
                </a:ext>
              </a:extLst>
            </p:cNvPr>
            <p:cNvSpPr/>
            <p:nvPr/>
          </p:nvSpPr>
          <p:spPr>
            <a:xfrm rot="5400000">
              <a:off x="4958082" y="-552251"/>
              <a:ext cx="116952" cy="2396466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211D7EDE-CB0B-A2E1-BD69-CEC84ADADD54}"/>
                </a:ext>
              </a:extLst>
            </p:cNvPr>
            <p:cNvSpPr/>
            <p:nvPr/>
          </p:nvSpPr>
          <p:spPr>
            <a:xfrm rot="5400000">
              <a:off x="8437307" y="234865"/>
              <a:ext cx="120546" cy="802663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E5DF5A-4013-6909-FDB2-12B113325354}"/>
                </a:ext>
              </a:extLst>
            </p:cNvPr>
            <p:cNvSpPr txBox="1"/>
            <p:nvPr/>
          </p:nvSpPr>
          <p:spPr>
            <a:xfrm rot="18239674">
              <a:off x="4776025" y="239681"/>
              <a:ext cx="68738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SPP1 -&gt; Fibro </a:t>
              </a: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4ADD1FED-E316-DFD4-C629-EE8094A6CEE4}"/>
                </a:ext>
              </a:extLst>
            </p:cNvPr>
            <p:cNvSpPr/>
            <p:nvPr/>
          </p:nvSpPr>
          <p:spPr>
            <a:xfrm rot="5400000">
              <a:off x="7097044" y="-279283"/>
              <a:ext cx="116951" cy="1834560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5893D7-82C5-DB35-1373-639380A697E1}"/>
                </a:ext>
              </a:extLst>
            </p:cNvPr>
            <p:cNvSpPr txBox="1"/>
            <p:nvPr/>
          </p:nvSpPr>
          <p:spPr>
            <a:xfrm rot="18239674">
              <a:off x="6922711" y="239682"/>
              <a:ext cx="68738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Both -&gt; Fibro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7F310D-B490-3E84-4F33-2B675AA7134C}"/>
                </a:ext>
              </a:extLst>
            </p:cNvPr>
            <p:cNvSpPr txBox="1"/>
            <p:nvPr/>
          </p:nvSpPr>
          <p:spPr>
            <a:xfrm rot="18239674">
              <a:off x="8246676" y="244245"/>
              <a:ext cx="68738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C1QC -&gt; Fibro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9B1A71-8A6E-A08E-0BDD-72812E7B9AF3}"/>
              </a:ext>
            </a:extLst>
          </p:cNvPr>
          <p:cNvGrpSpPr/>
          <p:nvPr/>
        </p:nvGrpSpPr>
        <p:grpSpPr>
          <a:xfrm>
            <a:off x="9452566" y="3676415"/>
            <a:ext cx="787466" cy="1769344"/>
            <a:chOff x="9452566" y="3676415"/>
            <a:chExt cx="787466" cy="1769344"/>
          </a:xfrm>
        </p:grpSpPr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41671F26-536F-C14E-11B1-7421BEA01262}"/>
                </a:ext>
              </a:extLst>
            </p:cNvPr>
            <p:cNvSpPr/>
            <p:nvPr/>
          </p:nvSpPr>
          <p:spPr>
            <a:xfrm rot="10800000">
              <a:off x="9452566" y="3676415"/>
              <a:ext cx="107757" cy="242632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AD931F4-1F7F-AD21-0C5A-48F47148AB22}"/>
                </a:ext>
              </a:extLst>
            </p:cNvPr>
            <p:cNvSpPr txBox="1"/>
            <p:nvPr/>
          </p:nvSpPr>
          <p:spPr>
            <a:xfrm>
              <a:off x="9596936" y="4826599"/>
              <a:ext cx="643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SPP1 -&gt; Fibro </a:t>
              </a:r>
            </a:p>
          </p:txBody>
        </p: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8375C87F-2687-A02C-7EA6-243026ADEC30}"/>
                </a:ext>
              </a:extLst>
            </p:cNvPr>
            <p:cNvSpPr/>
            <p:nvPr/>
          </p:nvSpPr>
          <p:spPr>
            <a:xfrm rot="10800000">
              <a:off x="9452566" y="3919049"/>
              <a:ext cx="114264" cy="426721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ED826CE4-93F5-DB10-5A4A-8DD83CAA0161}"/>
                </a:ext>
              </a:extLst>
            </p:cNvPr>
            <p:cNvSpPr/>
            <p:nvPr/>
          </p:nvSpPr>
          <p:spPr>
            <a:xfrm rot="10800000">
              <a:off x="9460036" y="4392104"/>
              <a:ext cx="118956" cy="105365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CB845B-E6A5-D351-B4E5-2E58CC49AAF5}"/>
                </a:ext>
              </a:extLst>
            </p:cNvPr>
            <p:cNvSpPr txBox="1"/>
            <p:nvPr/>
          </p:nvSpPr>
          <p:spPr>
            <a:xfrm>
              <a:off x="9578992" y="4040076"/>
              <a:ext cx="643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Both -&gt; Fibro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164CD94-62B5-B39D-2BD6-F50F405C8C35}"/>
                </a:ext>
              </a:extLst>
            </p:cNvPr>
            <p:cNvSpPr txBox="1"/>
            <p:nvPr/>
          </p:nvSpPr>
          <p:spPr>
            <a:xfrm>
              <a:off x="9566830" y="3705397"/>
              <a:ext cx="673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solidFill>
                    <a:srgbClr val="FF0000"/>
                  </a:solidFill>
                </a:rPr>
                <a:t>C1QC -&gt; Fibro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0849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31684</TotalTime>
  <Words>1239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Project Progress Update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Older/original/editable 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Mileham</dc:creator>
  <cp:lastModifiedBy>Henry Mileham</cp:lastModifiedBy>
  <cp:revision>38</cp:revision>
  <dcterms:created xsi:type="dcterms:W3CDTF">2026-07-07T15:54:57Z</dcterms:created>
  <dcterms:modified xsi:type="dcterms:W3CDTF">2026-08-06T15:11:39Z</dcterms:modified>
</cp:coreProperties>
</file>